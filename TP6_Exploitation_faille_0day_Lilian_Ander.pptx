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70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73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D1527-66CD-9E4E-9A4A-E615F4AE3ADF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A55F9-2E97-7241-9846-EC9802C82F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067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8F4182-2D06-DAD4-452F-1FA27CDC0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F5DCA3-46CD-F463-A0AC-4E1377820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E49025-355F-3FEE-D26D-D7E9FB4F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D08A-29ED-0F40-BE4B-112543CE024C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2EF314-1F5C-F139-2569-13B3883C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49A0B6-7AC7-0485-8E61-97CBD860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508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7609D-0370-71E5-65C6-0B83235A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96FB5-ED54-C2EF-4A43-FB6172D90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8729D3-2241-4F5B-A415-9426788F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4C394-6D39-F94B-A864-4F5C2BA51027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BF9D0C-DAA4-D60F-4D5A-CE83F23B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1729A-08B2-1DE4-589C-DE02D8B5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55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4F341A-4CE0-BF18-632E-4A82D4DB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814189-5FB5-E2BE-22A7-65CBB1DFD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9ECC9D-148E-3A6F-0E28-0AF54DB5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96B8-2BF0-0E49-862C-F6F635FAF71A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A4FEC0-A9D0-32F6-2FC7-C3B8BB50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7258EE-379C-8C3D-C843-64BF6650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98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842CB-A2AD-F73F-FBC4-D387D5FA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EB047D-F2A0-4411-E6DA-A5037B697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4BE887-E29B-78E6-9518-F6D279F0B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3D83F8-A6E1-2C02-971B-EA0662CF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6A85-1303-2349-BB57-49EA37BA5217}" type="datetime1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F91F1B-6330-7385-9071-44BF6382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7DEF67-2986-7A0C-524F-E02BB09E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89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8E7A4-BC7A-0AFB-8A98-3D7F921C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F22C33-DE27-0ABD-9E8E-4EA26002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BC6105-F9E5-3FC6-1A41-F90BD9113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1D6FFF-81C7-440B-1BC0-746B457B2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08EB243-AFD4-859A-B12C-4F6E83C04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4F6237-4973-09FE-97EB-DB869046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9242F-07D9-8043-A870-6136609D36CE}" type="datetime1">
              <a:rPr lang="fr-FR" smtClean="0"/>
              <a:t>08/10/2025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40542C-329E-4558-5CC4-BEB02321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4814445-6319-BB4F-4DA2-084DAFB7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63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F85FF-DB95-CBB1-9FAF-29E52784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3A98B1-0CF7-51FC-C539-A814838B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88BC-4391-6849-9602-11617F74056E}" type="datetime1">
              <a:rPr lang="fr-FR" smtClean="0"/>
              <a:t>08/10/2025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699B18-92E6-FB8E-F01B-0466750A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E1B12F-2C68-6739-1D79-2B94FD27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64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88C939-EAC1-17DB-4C3D-24C520EB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5F1D-0359-924A-B38E-06A431E7B969}" type="datetime1">
              <a:rPr lang="fr-FR" smtClean="0"/>
              <a:t>08/10/2025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B69A22-CE1E-529F-1EC2-006C0CCC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9348B3-FA92-C93A-5D06-2449B917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4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4A212-6222-F8D3-1D0C-733D74F8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0F12A-6585-0ABD-6C9C-02A9A2D50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25272D-53BC-27BB-7B7E-FB211D599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1953CA-412F-CCBC-12E0-2671F751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38A17-4958-1340-99B5-05FAB9EDB7C8}" type="datetime1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D5245B-BB21-2DB9-7F98-F8B30220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AE2193-A471-4B93-4F4D-2EFD7650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6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239A3-E4A4-A8C4-50BC-F6BB500B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4B50F7-8AFA-B1E6-06F5-90A190699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AB0EC8-9F4C-94ED-F9BF-9ABE0B74F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4602F9-EAAF-93C4-B1C9-B68E11FA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56A-66CA-444D-9833-F60B71DADDCE}" type="datetime1">
              <a:rPr lang="fr-FR" smtClean="0"/>
              <a:t>08/10/2025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22CBF7-0508-B652-D491-440CDB4E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518444-8217-0203-ABA7-492B52D8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70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4F9B9-771F-7605-1D89-D40C3A01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E54730-6871-A7A4-58C9-506457560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7F7021-70ED-23C2-CDCC-31D954A1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2BC1-1874-8D4D-8837-B8DB4BBB9254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C97E79-5444-C015-6EF1-C21AA42A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00AE4B-5BA0-825A-1831-522CBB75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16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9B41B12-7E5C-F327-2D6D-4AA251918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236F24-47A0-9EF2-C4BD-64EE96BDD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1E7F23-B7F5-75B0-E850-259B3D6A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F1321-2D4D-884C-861E-2CE738DFEB12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11185F-7E26-83D3-1C31-C0F449ED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EEE26B-B44E-2191-391D-4CB68CBF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98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2CA837-1BD4-BD21-74E2-99FF9E1E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A7F487-A0C9-3AD9-288B-CF50881A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2C6746-B59A-3885-A962-4C51F8428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4FD2B-80F8-6343-B239-BF7EC7832045}" type="datetime1">
              <a:rPr lang="fr-FR" smtClean="0"/>
              <a:t>08/10/2025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4F35A8-DAA4-AC35-ACDF-B23A24EBB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PICIURA Ander - MIRABEL Lilian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AF17A2-006B-2A44-5EC5-47C9D20B5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44E42-BC24-D442-AFF0-55EAB4633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68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910C-CBAE-71A6-A314-37116185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23B53-C60E-9294-A650-D4347066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0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Atelier 1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405137-6541-3C5C-4B66-A42FB2B9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EAF4B3-6F1F-5F40-C1B9-30912C45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DE2E0A7-F7FC-4599-8F76-77AB5BD9A2DA}"/>
              </a:ext>
            </a:extLst>
          </p:cNvPr>
          <p:cNvSpPr txBox="1"/>
          <p:nvPr/>
        </p:nvSpPr>
        <p:spPr>
          <a:xfrm>
            <a:off x="6536724" y="2113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AAB2CFC-DC19-C335-A285-EE56A2FE6630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Lilian Mirabel</a:t>
            </a:r>
          </a:p>
          <a:p>
            <a:pPr algn="ctr"/>
            <a:r>
              <a:rPr lang="fr-FR" dirty="0"/>
              <a:t>&amp; </a:t>
            </a:r>
          </a:p>
          <a:p>
            <a:pPr algn="ctr"/>
            <a:r>
              <a:rPr lang="fr-FR" dirty="0" err="1"/>
              <a:t>Ander</a:t>
            </a:r>
            <a:r>
              <a:rPr lang="fr-FR" dirty="0"/>
              <a:t> </a:t>
            </a:r>
            <a:r>
              <a:rPr lang="fr-FR" dirty="0" err="1"/>
              <a:t>Piciura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86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2A83A-3580-38BD-F2BC-CECE03E1C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8977"/>
            <a:ext cx="9144000" cy="904986"/>
          </a:xfrm>
        </p:spPr>
        <p:txBody>
          <a:bodyPr>
            <a:normAutofit fontScale="90000"/>
          </a:bodyPr>
          <a:lstStyle/>
          <a:p>
            <a:r>
              <a:rPr lang="fr-FR" dirty="0"/>
              <a:t>Exploitation de failles 0-day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2D0C6B-8523-1E28-18EC-D0974EFF0A05}"/>
              </a:ext>
            </a:extLst>
          </p:cNvPr>
          <p:cNvSpPr txBox="1"/>
          <p:nvPr/>
        </p:nvSpPr>
        <p:spPr>
          <a:xfrm>
            <a:off x="746275" y="1616149"/>
            <a:ext cx="1069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faille 0-day est une vulnérabilité informatique inconnue du fabricant et sans correctif disponible, que des pirates peuvent exploiter avant qu’elle ne soit corrigée.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A1C454-6DED-6F7D-C18D-29C8368B699E}"/>
              </a:ext>
            </a:extLst>
          </p:cNvPr>
          <p:cNvSpPr txBox="1"/>
          <p:nvPr/>
        </p:nvSpPr>
        <p:spPr>
          <a:xfrm>
            <a:off x="746275" y="2654666"/>
            <a:ext cx="1069944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Exemple concret</a:t>
            </a:r>
          </a:p>
          <a:p>
            <a:r>
              <a:rPr lang="fr-FR" dirty="0"/>
              <a:t>En 2021, une enquête internationale (Projet Pegasus) a révélé que le logiciel espion Pegasus avait été utilisé pour cibler les téléphones de plusieurs chefs d’État et responsables politiques, dont Emmanuel Macron, le président français.</a:t>
            </a:r>
          </a:p>
          <a:p>
            <a:endParaRPr lang="fr-FR" dirty="0"/>
          </a:p>
          <a:p>
            <a:r>
              <a:rPr lang="fr-FR" dirty="0"/>
              <a:t>Le spyware exploitait des failles 0-day dans iOS (le système d’Apple) pour s’installer à distance sans action de l’utilisateur.</a:t>
            </a:r>
          </a:p>
          <a:p>
            <a:endParaRPr lang="fr-FR" dirty="0"/>
          </a:p>
          <a:p>
            <a:r>
              <a:rPr lang="fr-FR" dirty="0"/>
              <a:t>Une fois infiltré, Pegasus pouvait lire les messages, écouter les appels, activer le micro ou la caméra du téléphone, transformant ainsi l’appareil en véritable outil d’espionnage.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5FDC0C3-79A3-A4B4-0406-5778C21F8D6F}"/>
              </a:ext>
            </a:extLst>
          </p:cNvPr>
          <p:cNvSpPr txBox="1"/>
          <p:nvPr/>
        </p:nvSpPr>
        <p:spPr>
          <a:xfrm>
            <a:off x="3678061" y="5816841"/>
            <a:ext cx="4835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Cette faille appartient à la catégorie technique.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C58524-2B16-E108-8C75-D058E4A0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5BA5A3-8BFE-5283-8FC7-9E2212EC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964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CD0AB-8CEC-13AA-1000-0A6ABA41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456"/>
          </a:xfrm>
        </p:spPr>
        <p:txBody>
          <a:bodyPr/>
          <a:lstStyle/>
          <a:p>
            <a:pPr algn="ctr"/>
            <a:r>
              <a:rPr lang="fr-FR" dirty="0"/>
              <a:t>Impacts et enjeux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83D3D-8EEF-FDD9-39F0-1E93A0C7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804"/>
            <a:ext cx="10515600" cy="51850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Les conséquences possibles d’une telle attaque sont :</a:t>
            </a:r>
          </a:p>
          <a:p>
            <a:pPr marL="0" indent="0">
              <a:buNone/>
            </a:pPr>
            <a:endParaRPr lang="fr-FR" sz="1500" dirty="0"/>
          </a:p>
          <a:p>
            <a:pPr>
              <a:buFontTx/>
              <a:buChar char="-"/>
            </a:pPr>
            <a:r>
              <a:rPr lang="fr-FR" sz="2400" dirty="0"/>
              <a:t>Sur le plan Financier : </a:t>
            </a:r>
          </a:p>
          <a:p>
            <a:pPr marL="0" indent="0">
              <a:buNone/>
            </a:pPr>
            <a:r>
              <a:rPr lang="fr-FR" sz="1200" dirty="0"/>
              <a:t>Pertes économiques liées à la fuite d’informations stratégiques /  Achat ou remplacement de matériel compromis / Coûts élevés d’investigation et de sécurisation des systèmes</a:t>
            </a:r>
          </a:p>
          <a:p>
            <a:pPr marL="0" indent="0">
              <a:buNone/>
            </a:pPr>
            <a:endParaRPr lang="fr-FR" sz="1050" dirty="0"/>
          </a:p>
          <a:p>
            <a:pPr marL="0" indent="0">
              <a:buNone/>
            </a:pPr>
            <a:r>
              <a:rPr lang="fr-FR" sz="2400" dirty="0"/>
              <a:t>- Sur le plan Organisationnelles : </a:t>
            </a:r>
          </a:p>
          <a:p>
            <a:pPr marL="0" indent="0">
              <a:buNone/>
            </a:pPr>
            <a:r>
              <a:rPr lang="fr-FR" sz="1050" dirty="0"/>
              <a:t>Inte</a:t>
            </a:r>
            <a:r>
              <a:rPr lang="fr-FR" sz="1200" dirty="0"/>
              <a:t>rruption d’activité en cas de compromission d’appareils essentiels /  Fuite ou perte de données sensibles / Perturbation du fonctionnement</a:t>
            </a:r>
          </a:p>
          <a:p>
            <a:pPr marL="0" indent="0">
              <a:buNone/>
            </a:pPr>
            <a:endParaRPr lang="fr-FR" sz="1050" dirty="0"/>
          </a:p>
          <a:p>
            <a:pPr>
              <a:buFontTx/>
              <a:buChar char="-"/>
            </a:pPr>
            <a:r>
              <a:rPr lang="fr-FR" sz="2400" dirty="0"/>
              <a:t>Sur le plan juridiques / réglementaires :</a:t>
            </a:r>
          </a:p>
          <a:p>
            <a:pPr marL="0" indent="0">
              <a:buNone/>
            </a:pPr>
            <a:r>
              <a:rPr lang="fr-FR" sz="1200" dirty="0"/>
              <a:t>Obligation de notifier les autorités et les personnes concernées /  Enquêtes pour non-respect du RGPD / Poursuites pour atteinte à la vie privée ou espionnage illégal</a:t>
            </a:r>
          </a:p>
          <a:p>
            <a:pPr marL="0" indent="0">
              <a:buNone/>
            </a:pPr>
            <a:r>
              <a:rPr lang="fr-FR" sz="1050" dirty="0"/>
              <a:t> </a:t>
            </a:r>
          </a:p>
          <a:p>
            <a:pPr>
              <a:buFontTx/>
              <a:buChar char="-"/>
            </a:pPr>
            <a:r>
              <a:rPr lang="fr-FR" sz="2400" dirty="0"/>
              <a:t>Sur le plan d’image et la confiance de marque : </a:t>
            </a:r>
          </a:p>
          <a:p>
            <a:pPr marL="0" indent="0">
              <a:buNone/>
            </a:pPr>
            <a:r>
              <a:rPr lang="fr-FR" sz="1200" dirty="0"/>
              <a:t>Perte de confiance à tous les niveaux /  Atteinte à la réputation nationale ou institutionnelle</a:t>
            </a:r>
          </a:p>
          <a:p>
            <a:pPr marL="0" indent="0" algn="ctr">
              <a:buNone/>
            </a:pPr>
            <a:endParaRPr lang="fr-FR" sz="1050" dirty="0"/>
          </a:p>
          <a:p>
            <a:pPr marL="0" indent="0" algn="ctr">
              <a:buNone/>
            </a:pPr>
            <a:r>
              <a:rPr lang="fr-FR" sz="1600" b="1" dirty="0"/>
              <a:t>Le niveau de criticité est fort.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3D2484-C384-6659-8C2A-8BAEA522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7A20D0-87BD-2E48-052E-D8F96A9F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67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1C341-6E74-1596-0208-E2CBB4B3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Prévention et réponses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25CAC-EDD9-079A-8C53-AF7245898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bonnes pratiques pour limiter ce type d’impacts sont :</a:t>
            </a:r>
          </a:p>
          <a:p>
            <a:pPr marL="0" indent="0">
              <a:buNone/>
            </a:pPr>
            <a:r>
              <a:rPr lang="fr-FR" sz="1200" dirty="0"/>
              <a:t>- Mettre à jour régulièrement les systèmes et applications </a:t>
            </a:r>
          </a:p>
          <a:p>
            <a:pPr marL="0" indent="0">
              <a:buNone/>
            </a:pPr>
            <a:r>
              <a:rPr lang="fr-FR" sz="1200" dirty="0"/>
              <a:t>- Limiter les droits d’accès </a:t>
            </a:r>
          </a:p>
          <a:p>
            <a:pPr marL="0" indent="0">
              <a:buNone/>
            </a:pPr>
            <a:r>
              <a:rPr lang="fr-FR" sz="1200" dirty="0"/>
              <a:t>- Mettre en place une veille de sécurité</a:t>
            </a:r>
          </a:p>
          <a:p>
            <a:pPr marL="0" indent="0">
              <a:buNone/>
            </a:pPr>
            <a:endParaRPr lang="fr-FR" sz="1050" dirty="0"/>
          </a:p>
          <a:p>
            <a:pPr marL="0" indent="0">
              <a:buNone/>
            </a:pPr>
            <a:r>
              <a:rPr lang="fr-FR" sz="2400" dirty="0"/>
              <a:t>Les outils et solutions techniques sont :</a:t>
            </a:r>
          </a:p>
          <a:p>
            <a:pPr marL="0" indent="0">
              <a:buNone/>
            </a:pPr>
            <a:r>
              <a:rPr lang="fr-FR" sz="1200" dirty="0"/>
              <a:t>- Authentification </a:t>
            </a:r>
            <a:r>
              <a:rPr lang="fr-FR" sz="1200" dirty="0" err="1"/>
              <a:t>multifacteur</a:t>
            </a:r>
            <a:r>
              <a:rPr lang="fr-FR" sz="1200" dirty="0"/>
              <a:t> pour limiter les accès </a:t>
            </a:r>
          </a:p>
          <a:p>
            <a:pPr marL="0" indent="0">
              <a:buNone/>
            </a:pPr>
            <a:r>
              <a:rPr lang="fr-FR" sz="1200" dirty="0"/>
              <a:t>- Firewall applicatif et filtrage réseau </a:t>
            </a:r>
          </a:p>
          <a:p>
            <a:pPr marL="0" indent="0">
              <a:buNone/>
            </a:pPr>
            <a:r>
              <a:rPr lang="fr-FR" sz="1200" dirty="0"/>
              <a:t>- Chiffrement des données au repos et en transit</a:t>
            </a:r>
          </a:p>
          <a:p>
            <a:pPr marL="0" indent="0">
              <a:buNone/>
            </a:pPr>
            <a:endParaRPr lang="fr-FR" sz="1050" dirty="0"/>
          </a:p>
          <a:p>
            <a:pPr marL="0" indent="0">
              <a:buNone/>
            </a:pPr>
            <a:r>
              <a:rPr lang="fr-FR" sz="2400" dirty="0"/>
              <a:t>Les réponses à adopter en cas d’incident :</a:t>
            </a:r>
          </a:p>
          <a:p>
            <a:pPr marL="0" indent="0">
              <a:buNone/>
            </a:pPr>
            <a:r>
              <a:rPr lang="fr-FR" sz="1200" dirty="0"/>
              <a:t>- Isoler immédiatement les appareils suspects &amp; infectés</a:t>
            </a:r>
          </a:p>
          <a:p>
            <a:pPr marL="0" indent="0">
              <a:buNone/>
            </a:pPr>
            <a:r>
              <a:rPr lang="fr-FR" sz="1200" dirty="0"/>
              <a:t>- Communiquer sur l'attaque et l'impact  </a:t>
            </a:r>
            <a:endParaRPr lang="fr-FR" sz="105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3B818-5F9F-6C4B-67AD-F3BA60E0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B7B0D7-8EC8-06A9-71B4-C52401F4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22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5A0F5-CD45-712F-4059-C0F0FF8B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0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Atelier 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0AA5E1-3CE3-97F8-19D0-AF8F3A0E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901517-A0CF-44AB-B9D2-A665BB12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5</a:t>
            </a:fld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2CB4E63-C33E-C0EB-820C-2A633533B07D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Lilian Mirabel</a:t>
            </a:r>
          </a:p>
          <a:p>
            <a:pPr algn="ctr"/>
            <a:r>
              <a:rPr lang="fr-FR" dirty="0"/>
              <a:t>&amp; </a:t>
            </a:r>
          </a:p>
          <a:p>
            <a:pPr algn="ctr"/>
            <a:r>
              <a:rPr lang="fr-FR" dirty="0" err="1"/>
              <a:t>Ander</a:t>
            </a:r>
            <a:r>
              <a:rPr lang="fr-FR" dirty="0"/>
              <a:t> </a:t>
            </a:r>
            <a:r>
              <a:rPr lang="fr-FR" dirty="0" err="1"/>
              <a:t>Piciura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154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82FC3-7A23-F841-1737-36106054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918610CC-372E-2A6A-A1A0-D75D77B1C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768458"/>
              </p:ext>
            </p:extLst>
          </p:nvPr>
        </p:nvGraphicFramePr>
        <p:xfrm>
          <a:off x="838200" y="520995"/>
          <a:ext cx="10515600" cy="4293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7772974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63370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217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167027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8111543"/>
                    </a:ext>
                  </a:extLst>
                </a:gridCol>
              </a:tblGrid>
              <a:tr h="604078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Risques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Probabilité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Gravité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Impacte usagers et partenaires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616801"/>
                  </a:ext>
                </a:extLst>
              </a:tr>
              <a:tr h="639932">
                <a:tc>
                  <a:txBody>
                    <a:bodyPr/>
                    <a:lstStyle/>
                    <a:p>
                      <a:r>
                        <a:rPr lang="fr-FR" sz="1000" dirty="0"/>
                        <a:t>Cyberattaque (ransomware, vol de données utilisateurs).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1</a:t>
                      </a:r>
                    </a:p>
                    <a:p>
                      <a:pPr algn="ctr"/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401"/>
                  </a:ext>
                </a:extLst>
              </a:tr>
              <a:tr h="604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Indisponibilité prolongée de l’application mobile.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663827"/>
                  </a:ext>
                </a:extLst>
              </a:tr>
              <a:tr h="604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Panne du cloud provider ou perte d’accès au serveur.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0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Erreur humaine lors du déploiement d’une mise à jour.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536059"/>
                  </a:ext>
                </a:extLst>
              </a:tr>
              <a:tr h="627584">
                <a:tc>
                  <a:txBody>
                    <a:bodyPr/>
                    <a:lstStyle/>
                    <a:p>
                      <a:r>
                        <a:rPr lang="fr-FR" sz="1000" dirty="0"/>
                        <a:t>Perte de connectivité Internet dans les bureaux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21020"/>
                  </a:ext>
                </a:extLst>
              </a:tr>
              <a:tr h="604078">
                <a:tc>
                  <a:txBody>
                    <a:bodyPr/>
                    <a:lstStyle/>
                    <a:p>
                      <a:r>
                        <a:rPr lang="fr-FR" sz="1000" dirty="0"/>
                        <a:t>Bad buzz ou crise de à un incident communication suite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9969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22D45E-30EC-B46D-1F10-A118C925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70FE3F-7703-445E-B778-EA3FD0A0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6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594AB0C-2E3B-D47E-900E-F62155D20509}"/>
              </a:ext>
            </a:extLst>
          </p:cNvPr>
          <p:cNvSpPr txBox="1"/>
          <p:nvPr/>
        </p:nvSpPr>
        <p:spPr>
          <a:xfrm>
            <a:off x="3283403" y="5400794"/>
            <a:ext cx="5625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correspond au niveau le plus élevé et 5 au plus faible.</a:t>
            </a:r>
          </a:p>
        </p:txBody>
      </p:sp>
    </p:spTree>
    <p:extLst>
      <p:ext uri="{BB962C8B-B14F-4D97-AF65-F5344CB8AC3E}">
        <p14:creationId xmlns:p14="http://schemas.microsoft.com/office/powerpoint/2010/main" val="429419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5B3F9B-3DA8-5AF1-6622-7DE26CD6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BA4EB3-0101-9589-A944-EBD53B6A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FE0A765D-D937-FE44-8639-E11734A07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6909"/>
              </p:ext>
            </p:extLst>
          </p:nvPr>
        </p:nvGraphicFramePr>
        <p:xfrm>
          <a:off x="195648" y="136524"/>
          <a:ext cx="11790405" cy="6066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135">
                  <a:extLst>
                    <a:ext uri="{9D8B030D-6E8A-4147-A177-3AD203B41FA5}">
                      <a16:colId xmlns:a16="http://schemas.microsoft.com/office/drawing/2014/main" val="1777297413"/>
                    </a:ext>
                  </a:extLst>
                </a:gridCol>
                <a:gridCol w="3930135">
                  <a:extLst>
                    <a:ext uri="{9D8B030D-6E8A-4147-A177-3AD203B41FA5}">
                      <a16:colId xmlns:a16="http://schemas.microsoft.com/office/drawing/2014/main" val="1916337012"/>
                    </a:ext>
                  </a:extLst>
                </a:gridCol>
                <a:gridCol w="3930135">
                  <a:extLst>
                    <a:ext uri="{9D8B030D-6E8A-4147-A177-3AD203B41FA5}">
                      <a16:colId xmlns:a16="http://schemas.microsoft.com/office/drawing/2014/main" val="1721789"/>
                    </a:ext>
                  </a:extLst>
                </a:gridCol>
              </a:tblGrid>
              <a:tr h="853526">
                <a:tc>
                  <a:txBody>
                    <a:bodyPr/>
                    <a:lstStyle/>
                    <a:p>
                      <a:pPr algn="ctr"/>
                      <a:r>
                        <a:rPr lang="fr-FR" sz="1500" dirty="0"/>
                        <a:t>Risques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500" dirty="0"/>
                        <a:t>RPO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616801"/>
                  </a:ext>
                </a:extLst>
              </a:tr>
              <a:tr h="990528">
                <a:tc>
                  <a:txBody>
                    <a:bodyPr/>
                    <a:lstStyle/>
                    <a:p>
                      <a:r>
                        <a:rPr lang="fr-FR" sz="1000" dirty="0"/>
                        <a:t>Cyberattaque (ransomware, vol de données utilisateurs).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401"/>
                  </a:ext>
                </a:extLst>
              </a:tr>
              <a:tr h="853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Indisponibilité prolongée de l’application mobile.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663827"/>
                  </a:ext>
                </a:extLst>
              </a:tr>
              <a:tr h="853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Panne du cloud provider ou perte d’accès au serveur.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15 min -30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09899"/>
                  </a:ext>
                </a:extLst>
              </a:tr>
              <a:tr h="775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Erreur humaine lors du déploiement d’une mise à jour.</a:t>
                      </a:r>
                    </a:p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536059"/>
                  </a:ext>
                </a:extLst>
              </a:tr>
              <a:tr h="886739">
                <a:tc>
                  <a:txBody>
                    <a:bodyPr/>
                    <a:lstStyle/>
                    <a:p>
                      <a:r>
                        <a:rPr lang="fr-FR" sz="1000"/>
                        <a:t>Perte de connectivité Internet dans les bureaux</a:t>
                      </a:r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? (1h)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21020"/>
                  </a:ext>
                </a:extLst>
              </a:tr>
              <a:tr h="853526">
                <a:tc>
                  <a:txBody>
                    <a:bodyPr/>
                    <a:lstStyle/>
                    <a:p>
                      <a:r>
                        <a:rPr lang="fr-FR" sz="1000"/>
                        <a:t>Bad buzz ou crise de à un incident communication suite technique</a:t>
                      </a:r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? (1h)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04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0BAC4-6283-8E82-C4DC-E470683E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770"/>
            <a:ext cx="10515600" cy="795632"/>
          </a:xfrm>
        </p:spPr>
        <p:txBody>
          <a:bodyPr/>
          <a:lstStyle/>
          <a:p>
            <a:r>
              <a:rPr lang="fr-FR" dirty="0"/>
              <a:t>Plan de Continuité d’Activité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2A0CA3-7FF7-C5AF-4129-561C37E2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013"/>
            <a:ext cx="10515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/>
              <a:t>Définissez les activités vitales à maintenir en cas d’incident</a:t>
            </a:r>
          </a:p>
          <a:p>
            <a:pPr marL="0" indent="0">
              <a:buNone/>
            </a:pPr>
            <a:r>
              <a:rPr lang="fr-FR" sz="1400" dirty="0"/>
              <a:t>- La disponibilité des application Mobile et Web</a:t>
            </a:r>
          </a:p>
          <a:p>
            <a:pPr marL="0" indent="0">
              <a:buNone/>
            </a:pPr>
            <a:r>
              <a:rPr lang="fr-FR" sz="1400" dirty="0"/>
              <a:t>- Les systèmes de paiement</a:t>
            </a:r>
          </a:p>
          <a:p>
            <a:pPr marL="0" indent="0">
              <a:buNone/>
            </a:pPr>
            <a:r>
              <a:rPr lang="fr-FR" sz="1400" dirty="0"/>
              <a:t>- Les bases de données</a:t>
            </a:r>
          </a:p>
          <a:p>
            <a:pPr marL="0" indent="0">
              <a:buNone/>
            </a:pPr>
            <a:r>
              <a:rPr lang="fr-FR" sz="1400" dirty="0"/>
              <a:t>- Outils de communication interne</a:t>
            </a:r>
          </a:p>
          <a:p>
            <a:pPr marL="0" indent="0">
              <a:buNone/>
            </a:pPr>
            <a:r>
              <a:rPr lang="fr-FR" sz="1400" dirty="0"/>
              <a:t>- Supervision du système</a:t>
            </a:r>
          </a:p>
          <a:p>
            <a:pPr marL="0" indent="0">
              <a:buNone/>
            </a:pPr>
            <a:endParaRPr lang="fr-FR" sz="1000" dirty="0"/>
          </a:p>
          <a:p>
            <a:pPr marL="0" indent="0">
              <a:buNone/>
            </a:pPr>
            <a:r>
              <a:rPr lang="fr-FR" sz="1800" b="1" dirty="0"/>
              <a:t>Proposez des moyens de continuité minimale</a:t>
            </a:r>
          </a:p>
          <a:p>
            <a:pPr marL="0" indent="0">
              <a:buNone/>
            </a:pPr>
            <a:r>
              <a:rPr lang="fr-FR" sz="1800" dirty="0"/>
              <a:t>-</a:t>
            </a:r>
            <a:r>
              <a:rPr lang="fr-FR" sz="1400" dirty="0"/>
              <a:t> Des serveurs de secours</a:t>
            </a:r>
          </a:p>
          <a:p>
            <a:pPr marL="0" indent="0">
              <a:buNone/>
            </a:pPr>
            <a:r>
              <a:rPr lang="fr-FR" sz="1400" dirty="0"/>
              <a:t>- Des sauvegardes régulières prêt à prendre le relais</a:t>
            </a:r>
          </a:p>
          <a:p>
            <a:pPr marL="0" indent="0">
              <a:buNone/>
            </a:pPr>
            <a:r>
              <a:rPr lang="fr-FR" sz="1400" dirty="0"/>
              <a:t>- Autoriser le télétravail avec la mise en place d’un VPN</a:t>
            </a:r>
          </a:p>
          <a:p>
            <a:pPr marL="0" indent="0">
              <a:buNone/>
            </a:pPr>
            <a:r>
              <a:rPr lang="fr-FR" sz="1400" dirty="0"/>
              <a:t>- Réseau de secours</a:t>
            </a:r>
          </a:p>
          <a:p>
            <a:pPr marL="0" indent="0">
              <a:buNone/>
            </a:pPr>
            <a:r>
              <a:rPr lang="fr-FR" sz="1400" dirty="0"/>
              <a:t>- Supervision et sécurité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endParaRPr lang="fr-FR" sz="1000" dirty="0"/>
          </a:p>
          <a:p>
            <a:pPr marL="0" indent="0">
              <a:buNone/>
            </a:pPr>
            <a:endParaRPr lang="fr-FR" sz="1800" b="1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1C7A77-6469-5B6D-697C-48B1FA68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289B22-5F4D-D01E-18E4-96039CE8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64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888B1-27AA-D8A4-0082-A445F93F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Décrivez le rôle des acteurs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4CBC67-7767-BA60-6491-D67CDDF7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B897E1B-4391-0D82-0419-BA8F83FA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0A13D25-30C3-2A88-A061-0ADDE6725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40239"/>
              </p:ext>
            </p:extLst>
          </p:nvPr>
        </p:nvGraphicFramePr>
        <p:xfrm>
          <a:off x="2135890" y="1841157"/>
          <a:ext cx="7920219" cy="402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285">
                  <a:extLst>
                    <a:ext uri="{9D8B030D-6E8A-4147-A177-3AD203B41FA5}">
                      <a16:colId xmlns:a16="http://schemas.microsoft.com/office/drawing/2014/main" val="228330033"/>
                    </a:ext>
                  </a:extLst>
                </a:gridCol>
                <a:gridCol w="5236934">
                  <a:extLst>
                    <a:ext uri="{9D8B030D-6E8A-4147-A177-3AD203B41FA5}">
                      <a16:colId xmlns:a16="http://schemas.microsoft.com/office/drawing/2014/main" val="3130860348"/>
                    </a:ext>
                  </a:extLst>
                </a:gridCol>
              </a:tblGrid>
              <a:tr h="487830">
                <a:tc>
                  <a:txBody>
                    <a:bodyPr/>
                    <a:lstStyle/>
                    <a:p>
                      <a:r>
                        <a:rPr lang="fr-FR" dirty="0"/>
                        <a:t>Acteurs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Rôles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77561"/>
                  </a:ext>
                </a:extLst>
              </a:tr>
              <a:tr h="487830">
                <a:tc>
                  <a:txBody>
                    <a:bodyPr/>
                    <a:lstStyle/>
                    <a:p>
                      <a:r>
                        <a:rPr lang="fr-FR" sz="1800" dirty="0"/>
                        <a:t>Direction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Prise de direction stratégique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752065"/>
                  </a:ext>
                </a:extLst>
              </a:tr>
              <a:tr h="853702">
                <a:tc>
                  <a:txBody>
                    <a:bodyPr/>
                    <a:lstStyle/>
                    <a:p>
                      <a:r>
                        <a:rPr lang="fr-FR" sz="1800" dirty="0"/>
                        <a:t>DSI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Gestion de l’IT est des solutions de continuité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770869"/>
                  </a:ext>
                </a:extLst>
              </a:tr>
              <a:tr h="853702">
                <a:tc>
                  <a:txBody>
                    <a:bodyPr/>
                    <a:lstStyle/>
                    <a:p>
                      <a:r>
                        <a:rPr lang="fr-FR" sz="1800" dirty="0"/>
                        <a:t>DevOps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Maintien de l’</a:t>
                      </a:r>
                      <a:r>
                        <a:rPr lang="fr-FR" dirty="0" err="1"/>
                        <a:t>infrastucture</a:t>
                      </a:r>
                      <a:r>
                        <a:rPr lang="fr-FR" dirty="0"/>
                        <a:t> et des incidents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470985"/>
                  </a:ext>
                </a:extLst>
              </a:tr>
              <a:tr h="487830">
                <a:tc>
                  <a:txBody>
                    <a:bodyPr/>
                    <a:lstStyle/>
                    <a:p>
                      <a:r>
                        <a:rPr lang="fr-FR" sz="1800" dirty="0"/>
                        <a:t>Support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Réponse au demande technique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39947"/>
                  </a:ext>
                </a:extLst>
              </a:tr>
              <a:tr h="853702">
                <a:tc>
                  <a:txBody>
                    <a:bodyPr/>
                    <a:lstStyle/>
                    <a:p>
                      <a:r>
                        <a:rPr lang="fr-FR" sz="1800" dirty="0"/>
                        <a:t>Communication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Gestion de la communication entre les équipes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322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14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607C5-8744-2DA8-280B-A1786B69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178"/>
            <a:ext cx="10515600" cy="50277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Proposez une stratégie de sauvegarde et de restauration</a:t>
            </a:r>
          </a:p>
          <a:p>
            <a:pPr>
              <a:buFontTx/>
              <a:buChar char="-"/>
            </a:pPr>
            <a:r>
              <a:rPr lang="fr-FR" sz="1800" dirty="0"/>
              <a:t>Sauvegarde quotidienne et automatique des données</a:t>
            </a:r>
          </a:p>
          <a:p>
            <a:pPr>
              <a:buFontTx/>
              <a:buChar char="-"/>
            </a:pPr>
            <a:r>
              <a:rPr lang="fr-FR" sz="1800" dirty="0"/>
              <a:t>Utilisation de divers supports de stockages de données (cloud, disques, etc.)</a:t>
            </a:r>
          </a:p>
          <a:p>
            <a:pPr>
              <a:buFontTx/>
              <a:buChar char="-"/>
            </a:pPr>
            <a:r>
              <a:rPr lang="fr-FR" sz="1800" dirty="0"/>
              <a:t>Utilisation d’un système de </a:t>
            </a:r>
            <a:r>
              <a:rPr lang="fr-FR" sz="1800" dirty="0" err="1"/>
              <a:t>versionning</a:t>
            </a:r>
            <a:r>
              <a:rPr lang="fr-FR" sz="1800" dirty="0"/>
              <a:t> pour le SI (</a:t>
            </a:r>
            <a:r>
              <a:rPr lang="fr-FR" sz="1800" dirty="0" err="1"/>
              <a:t>github</a:t>
            </a:r>
            <a:r>
              <a:rPr lang="fr-FR" sz="1800" dirty="0"/>
              <a:t>, git)</a:t>
            </a:r>
          </a:p>
          <a:p>
            <a:pPr>
              <a:buFontTx/>
              <a:buChar char="-"/>
            </a:pPr>
            <a:endParaRPr lang="fr-FR" sz="1800" dirty="0"/>
          </a:p>
          <a:p>
            <a:pPr marL="0" indent="0">
              <a:buNone/>
            </a:pPr>
            <a:r>
              <a:rPr lang="fr-FR" b="1" dirty="0"/>
              <a:t>Décrivez les étapes de reprise après incident</a:t>
            </a:r>
          </a:p>
          <a:p>
            <a:pPr marL="514350" indent="-514350">
              <a:buAutoNum type="arabicPeriod"/>
            </a:pPr>
            <a:r>
              <a:rPr lang="fr-FR" sz="1900" dirty="0"/>
              <a:t>Analyse et vérification sur l’impact  et l’incidence du système et des données.</a:t>
            </a:r>
          </a:p>
          <a:p>
            <a:pPr marL="514350" indent="-514350">
              <a:buAutoNum type="arabicPeriod"/>
            </a:pPr>
            <a:r>
              <a:rPr lang="fr-FR" sz="1900" dirty="0"/>
              <a:t>Décision des différents acteurs sur les actions à entreprendre.</a:t>
            </a:r>
          </a:p>
          <a:p>
            <a:pPr marL="514350" indent="-514350">
              <a:buAutoNum type="arabicPeriod"/>
            </a:pPr>
            <a:r>
              <a:rPr lang="fr-FR" sz="1900" dirty="0"/>
              <a:t>Phase de test pour la validation des bons fonctionnements du système.</a:t>
            </a:r>
          </a:p>
          <a:p>
            <a:pPr marL="514350" indent="-514350">
              <a:buAutoNum type="arabicPeriod"/>
            </a:pPr>
            <a:r>
              <a:rPr lang="fr-FR" sz="1900" dirty="0"/>
              <a:t>Communication signaler la correction du problème.</a:t>
            </a:r>
          </a:p>
          <a:p>
            <a:pPr marL="514350" indent="-514350">
              <a:buAutoNum type="arabicPeriod"/>
            </a:pPr>
            <a:r>
              <a:rPr lang="fr-FR" sz="1900" dirty="0"/>
              <a:t>Re-disponibilité du service et retour a la normal.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A69D77-0AED-1B9F-655F-3CB02B95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CAEB9D-1C87-3C2D-AD84-7D4CB66F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10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D2CFAD4-DCE8-55A5-FA23-37EFFBE7AB09}"/>
              </a:ext>
            </a:extLst>
          </p:cNvPr>
          <p:cNvSpPr txBox="1">
            <a:spLocks/>
          </p:cNvSpPr>
          <p:nvPr/>
        </p:nvSpPr>
        <p:spPr>
          <a:xfrm>
            <a:off x="838200" y="238770"/>
            <a:ext cx="10515600" cy="795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Plan de Reprise d’Activité </a:t>
            </a:r>
          </a:p>
        </p:txBody>
      </p:sp>
    </p:spTree>
    <p:extLst>
      <p:ext uri="{BB962C8B-B14F-4D97-AF65-F5344CB8AC3E}">
        <p14:creationId xmlns:p14="http://schemas.microsoft.com/office/powerpoint/2010/main" val="334994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785F6-CB24-B3F1-DDF4-AA80F84F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Schéma simplifié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9B9E37-71C8-26A3-AEE9-02166F45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234254-AF9E-26C1-1B25-8150666D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EF4814-C6BF-9ABD-4797-6C1A8863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482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4878E-C162-9487-A85B-191EA970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Fiche PRA/PCA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C38C2D-D08E-76BA-90A4-72786E65D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Contexte et Enjeux </a:t>
            </a:r>
            <a:r>
              <a:rPr lang="fr-FR" dirty="0"/>
              <a:t>: La startup </a:t>
            </a:r>
            <a:r>
              <a:rPr lang="fr-FR" dirty="0" err="1"/>
              <a:t>Covoit’Ouest</a:t>
            </a:r>
            <a:r>
              <a:rPr lang="fr-FR" dirty="0"/>
              <a:t> situé a La Rochelle </a:t>
            </a:r>
          </a:p>
          <a:p>
            <a:pPr marL="0" indent="0">
              <a:buNone/>
            </a:pPr>
            <a:r>
              <a:rPr lang="fr-FR" dirty="0"/>
              <a:t>est une entreprise qui dépend principalement de ses Systèmes d’Information.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enjeux sont donc importants pour </a:t>
            </a:r>
            <a:r>
              <a:rPr lang="fr-FR" dirty="0" err="1"/>
              <a:t>Covoit’Ouest</a:t>
            </a:r>
            <a:r>
              <a:rPr lang="fr-FR" dirty="0"/>
              <a:t> pour :</a:t>
            </a:r>
          </a:p>
          <a:p>
            <a:pPr>
              <a:buFontTx/>
              <a:buChar char="-"/>
            </a:pPr>
            <a:r>
              <a:rPr lang="fr-FR" dirty="0"/>
              <a:t>De garder une continuité du service permanant.</a:t>
            </a:r>
          </a:p>
          <a:p>
            <a:pPr>
              <a:buFontTx/>
              <a:buChar char="-"/>
            </a:pPr>
            <a:r>
              <a:rPr lang="fr-FR" dirty="0"/>
              <a:t>Limiter les pertes et vol de données.</a:t>
            </a:r>
          </a:p>
          <a:p>
            <a:pPr>
              <a:buFontTx/>
              <a:buChar char="-"/>
            </a:pPr>
            <a:r>
              <a:rPr lang="fr-FR" dirty="0"/>
              <a:t>Préserver la stabilité économique de l’entreprise.</a:t>
            </a:r>
          </a:p>
          <a:p>
            <a:pPr>
              <a:buFontTx/>
              <a:buChar char="-"/>
            </a:pPr>
            <a:r>
              <a:rPr lang="fr-FR" dirty="0"/>
              <a:t>Garder la confiance des clients / partenaires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3DAA80-D962-A203-22E7-53E858C1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F68BEA-F38E-97E2-48AA-CD2107A1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46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E5D65-0CDF-DF6D-1245-ECE8D618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MATRICE DE CRITICITÉ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C35F8FE9-6FEA-6F7A-25A4-E512D4747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903" y="1914525"/>
            <a:ext cx="11245009" cy="4257675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3DDA9E-C759-9AEE-8015-D67931DF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BBE135-05B1-B7DE-C1D4-964D6801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13</a:t>
            </a:fld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85BB4D7-2A7A-D61E-AF60-6085050017C4}"/>
              </a:ext>
            </a:extLst>
          </p:cNvPr>
          <p:cNvCxnSpPr>
            <a:cxnSpLocks/>
          </p:cNvCxnSpPr>
          <p:nvPr/>
        </p:nvCxnSpPr>
        <p:spPr>
          <a:xfrm flipV="1">
            <a:off x="555551" y="2424223"/>
            <a:ext cx="0" cy="3747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DD027EA-39DD-2F5E-02AF-863E6720543D}"/>
              </a:ext>
            </a:extLst>
          </p:cNvPr>
          <p:cNvCxnSpPr>
            <a:cxnSpLocks/>
          </p:cNvCxnSpPr>
          <p:nvPr/>
        </p:nvCxnSpPr>
        <p:spPr>
          <a:xfrm>
            <a:off x="2041451" y="1690688"/>
            <a:ext cx="9893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CEF6DFE1-F2FA-B406-D954-8C359CE42F8F}"/>
              </a:ext>
            </a:extLst>
          </p:cNvPr>
          <p:cNvSpPr txBox="1"/>
          <p:nvPr/>
        </p:nvSpPr>
        <p:spPr>
          <a:xfrm>
            <a:off x="5869172" y="1282186"/>
            <a:ext cx="187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Gravité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559B6C-C0F8-97C3-8883-EE9FAE416F52}"/>
              </a:ext>
            </a:extLst>
          </p:cNvPr>
          <p:cNvSpPr txBox="1"/>
          <p:nvPr/>
        </p:nvSpPr>
        <p:spPr>
          <a:xfrm rot="16200000">
            <a:off x="-564780" y="3858696"/>
            <a:ext cx="187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Probabilité</a:t>
            </a:r>
          </a:p>
        </p:txBody>
      </p:sp>
    </p:spTree>
    <p:extLst>
      <p:ext uri="{BB962C8B-B14F-4D97-AF65-F5344CB8AC3E}">
        <p14:creationId xmlns:p14="http://schemas.microsoft.com/office/powerpoint/2010/main" val="394510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1A7F75-C87F-5ADA-F230-19F66191C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1628"/>
            <a:ext cx="10515600" cy="5645335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Les principales mesures techniques et organisationnelles.</a:t>
            </a:r>
          </a:p>
          <a:p>
            <a:pPr marL="0" indent="0">
              <a:buNone/>
            </a:pPr>
            <a:r>
              <a:rPr lang="fr-FR" sz="1900" dirty="0"/>
              <a:t>- Sauvegarde quotidienne automatisée.</a:t>
            </a:r>
          </a:p>
          <a:p>
            <a:pPr marL="0" indent="0">
              <a:buNone/>
            </a:pPr>
            <a:r>
              <a:rPr lang="fr-FR" sz="1900" dirty="0"/>
              <a:t>- Redondance des serveurs critiques.</a:t>
            </a:r>
          </a:p>
          <a:p>
            <a:pPr marL="0" indent="0">
              <a:buNone/>
            </a:pPr>
            <a:r>
              <a:rPr lang="fr-FR" sz="1900" dirty="0"/>
              <a:t>- </a:t>
            </a:r>
            <a:r>
              <a:rPr lang="fr-FR" sz="2000" dirty="0"/>
              <a:t>Formation annuelle des employés</a:t>
            </a:r>
            <a:r>
              <a:rPr lang="fr-FR" sz="1900" dirty="0"/>
              <a:t>.</a:t>
            </a:r>
          </a:p>
          <a:p>
            <a:pPr marL="0" indent="0">
              <a:buNone/>
            </a:pPr>
            <a:r>
              <a:rPr lang="fr-FR" sz="1900" dirty="0"/>
              <a:t>- Chiffrement des données.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Les procédures de test et de mise à jour annuelle du plan.</a:t>
            </a:r>
          </a:p>
          <a:p>
            <a:pPr marL="0" indent="0">
              <a:buNone/>
            </a:pPr>
            <a:r>
              <a:rPr lang="fr-FR" dirty="0"/>
              <a:t>- </a:t>
            </a:r>
            <a:r>
              <a:rPr lang="fr-FR" sz="1900" dirty="0"/>
              <a:t>Audit annuel du plan PRA/PCA</a:t>
            </a:r>
          </a:p>
          <a:p>
            <a:pPr marL="0" indent="0">
              <a:buNone/>
            </a:pPr>
            <a:r>
              <a:rPr lang="fr-FR" sz="1900" dirty="0"/>
              <a:t>- Mise à jour annuelle</a:t>
            </a:r>
          </a:p>
          <a:p>
            <a:pPr>
              <a:buFontTx/>
              <a:buChar char="-"/>
            </a:pPr>
            <a:r>
              <a:rPr lang="fr-FR" sz="1900" dirty="0"/>
              <a:t>Compte rendu de test documenté</a:t>
            </a:r>
          </a:p>
          <a:p>
            <a:pPr marL="0" indent="0">
              <a:buNone/>
            </a:pPr>
            <a:endParaRPr lang="fr-FR" sz="1900" dirty="0"/>
          </a:p>
          <a:p>
            <a:r>
              <a:rPr lang="fr-FR" dirty="0"/>
              <a:t>Une courte stratégie de communication de crise (qui parle, à qui, comment ?)</a:t>
            </a:r>
          </a:p>
          <a:p>
            <a:pPr>
              <a:buFontTx/>
              <a:buChar char="-"/>
            </a:pPr>
            <a:r>
              <a:rPr lang="fr-FR" sz="1900" dirty="0"/>
              <a:t>E-mail d’urgence à l’ensemble du personnel.</a:t>
            </a:r>
          </a:p>
          <a:p>
            <a:pPr>
              <a:buFontTx/>
              <a:buChar char="-"/>
            </a:pPr>
            <a:r>
              <a:rPr lang="fr-FR" sz="1900" dirty="0"/>
              <a:t>Message sur l’intranet interne ou Slack / Teams.</a:t>
            </a:r>
          </a:p>
          <a:p>
            <a:pPr>
              <a:buFontTx/>
              <a:buChar char="-"/>
            </a:pPr>
            <a:r>
              <a:rPr lang="fr-FR" sz="2000" dirty="0"/>
              <a:t>Le DSI informe immédiatement le Directeur Général </a:t>
            </a:r>
            <a:endParaRPr lang="fr-FR" sz="19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15B20-6B5F-C641-94FB-DF98F27F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PICIURA Ander - MIRABEL Lilian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2678BF-0775-97DD-F00C-BA4CDFEA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4E42-BC24-D442-AFF0-55EAB46336F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7136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1016</Words>
  <Application>Microsoft Macintosh PowerPoint</Application>
  <PresentationFormat>Grand écran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Atelier 1</vt:lpstr>
      <vt:lpstr>Exploitation de failles 0-day</vt:lpstr>
      <vt:lpstr>Impacts et enjeux</vt:lpstr>
      <vt:lpstr>Prévention et réponses</vt:lpstr>
      <vt:lpstr>Atelier 2</vt:lpstr>
      <vt:lpstr>Présentation PowerPoint</vt:lpstr>
      <vt:lpstr>Présentation PowerPoint</vt:lpstr>
      <vt:lpstr>Plan de Continuité d’Activité </vt:lpstr>
      <vt:lpstr>Décrivez le rôle des acteurs</vt:lpstr>
      <vt:lpstr>Présentation PowerPoint</vt:lpstr>
      <vt:lpstr>Schéma simplifié</vt:lpstr>
      <vt:lpstr>Fiche PRA/PCA</vt:lpstr>
      <vt:lpstr>MATRICE DE CRITICITÉ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 Mirabel</dc:creator>
  <cp:lastModifiedBy>Lilian Mirabel</cp:lastModifiedBy>
  <cp:revision>43</cp:revision>
  <dcterms:created xsi:type="dcterms:W3CDTF">2025-10-07T15:26:07Z</dcterms:created>
  <dcterms:modified xsi:type="dcterms:W3CDTF">2025-10-08T15:24:41Z</dcterms:modified>
</cp:coreProperties>
</file>