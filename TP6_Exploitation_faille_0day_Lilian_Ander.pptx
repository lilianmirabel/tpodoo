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5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704"/>
  </p:normalViewPr>
  <p:slideViewPr>
    <p:cSldViewPr snapToGrid="0">
      <p:cViewPr varScale="1">
        <p:scale>
          <a:sx n="104" d="100"/>
          <a:sy n="104" d="100"/>
        </p:scale>
        <p:origin x="232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D1527-66CD-9E4E-9A4A-E615F4AE3ADF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A55F9-2E97-7241-9846-EC9802C82F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3067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8F4182-2D06-DAD4-452F-1FA27CDC0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3F5DCA3-46CD-F463-A0AC-4E1377820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49025-355F-3FEE-D26D-D7E9FB4F4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B6D08A-29ED-0F40-BE4B-112543CE024C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2EF314-1F5C-F139-2569-13B3883C5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49A0B6-7AC7-0485-8E61-97CBD8602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508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D7609D-0370-71E5-65C6-0B83235A4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F96FB5-ED54-C2EF-4A43-FB6172D9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8729D3-2241-4F5B-A415-9426788F3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4C394-6D39-F94B-A864-4F5C2BA51027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BF9D0C-DAA4-D60F-4D5A-CE83F23BF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C1729A-08B2-1DE4-589C-DE02D8B52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553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4F341A-4CE0-BF18-632E-4A82D4DB6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0814189-5FB5-E2BE-22A7-65CBB1DFD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9ECC9D-148E-3A6F-0E28-0AF54DB5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A96B8-2BF0-0E49-862C-F6F635FAF71A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A4FEC0-A9D0-32F6-2FC7-C3B8BB503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7258EE-379C-8C3D-C843-64BF6650A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988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B842CB-A2AD-F73F-FBC4-D387D5FA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EB047D-F2A0-4411-E6DA-A5037B697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B4BE887-E29B-78E6-9518-F6D279F0B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3D83F8-A6E1-2C02-971B-EA0662CF4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06A85-1303-2349-BB57-49EA37BA5217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0F91F1B-6330-7385-9071-44BF6382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7DEF67-2986-7A0C-524F-E02BB09E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3895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48E7A4-BC7A-0AFB-8A98-3D7F921C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F22C33-DE27-0ABD-9E8E-4EA260021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3BC6105-F9E5-3FC6-1A41-F90BD9113A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1D6FFF-81C7-440B-1BC0-746B457B20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08EB243-AFD4-859A-B12C-4F6E83C043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4F6237-4973-09FE-97EB-DB869046C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9242F-07D9-8043-A870-6136609D36CE}" type="datetime1">
              <a:rPr lang="fr-FR" smtClean="0"/>
              <a:t>08/10/2025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540542C-329E-4558-5CC4-BEB02321C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4814445-6319-BB4F-4DA2-084DAFB7E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3636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4F85FF-DB95-CBB1-9FAF-29E52784E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B3A98B1-0CF7-51FC-C539-A814838B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88BC-4391-6849-9602-11617F74056E}" type="datetime1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6699B18-92E6-FB8E-F01B-0466750A1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CE1B12F-2C68-6739-1D79-2B94FD274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2649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188C939-EAC1-17DB-4C3D-24C520EB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B5F1D-0359-924A-B38E-06A431E7B969}" type="datetime1">
              <a:rPr lang="fr-FR" smtClean="0"/>
              <a:t>08/10/2025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CB69A22-CE1E-529F-1EC2-006C0CCCE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A9348B3-FA92-C93A-5D06-2449B917E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344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44A212-6222-F8D3-1D0C-733D74F87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30F12A-6585-0ABD-6C9C-02A9A2D50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25272D-53BC-27BB-7B7E-FB211D5994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1953CA-412F-CCBC-12E0-2671F751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38A17-4958-1340-99B5-05FAB9EDB7C8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DD5245B-BB21-2DB9-7F98-F8B302204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DAE2193-A471-4B93-4F4D-2EFD76505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60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1239A3-E4A4-A8C4-50BC-F6BB500BB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24B50F7-8AFA-B1E6-06F5-90A1906993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AB0EC8-9F4C-94ED-F9BF-9ABE0B74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D4602F9-EAAF-93C4-B1C9-B68E11FAB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5D56A-66CA-444D-9833-F60B71DADDCE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222CBF7-0508-B652-D491-440CDB4E5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518444-8217-0203-ABA7-492B52D85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3708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C4F9B9-771F-7605-1D89-D40C3A016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2E54730-6871-A7A4-58C9-506457560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7F7021-70ED-23C2-CDCC-31D954A1A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72BC1-1874-8D4D-8837-B8DB4BBB9254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C97E79-5444-C015-6EF1-C21AA42A9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00AE4B-5BA0-825A-1831-522CBB752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167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9B41B12-7E5C-F327-2D6D-4AA251918E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B236F24-47A0-9EF2-C4BD-64EE96BDD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1E7F23-B7F5-75B0-E850-259B3D6AE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F1321-2D4D-884C-861E-2CE738DFEB12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11185F-7E26-83D3-1C31-C0F449ED0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EEE26B-B44E-2191-391D-4CB68CBF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2983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32CA837-1BD4-BD21-74E2-99FF9E1E2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A7F487-A0C9-3AD9-288B-CF50881A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2C6746-B59A-3885-A962-4C51F8428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4FD2B-80F8-6343-B239-BF7EC7832045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4F35A8-DAA4-AC35-ACDF-B23A24EBBE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AF17A2-006B-2A44-5EC5-47C9D20B5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6688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02A83A-3580-38BD-F2BC-CECE03E1C4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8977"/>
            <a:ext cx="9144000" cy="904986"/>
          </a:xfrm>
        </p:spPr>
        <p:txBody>
          <a:bodyPr>
            <a:normAutofit fontScale="90000"/>
          </a:bodyPr>
          <a:lstStyle/>
          <a:p>
            <a:r>
              <a:rPr lang="fr-FR" dirty="0"/>
              <a:t>Exploitation de failles 0-day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2D0C6B-8523-1E28-18EC-D0974EFF0A05}"/>
              </a:ext>
            </a:extLst>
          </p:cNvPr>
          <p:cNvSpPr txBox="1"/>
          <p:nvPr/>
        </p:nvSpPr>
        <p:spPr>
          <a:xfrm>
            <a:off x="746275" y="1616149"/>
            <a:ext cx="10699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Une faille 0-day est une vulnérabilité informatique inconnue du fabricant et sans correctif disponible, que des pirates peuvent exploiter avant qu’elle ne soit corrigée.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A1C454-6DED-6F7D-C18D-29C8368B699E}"/>
              </a:ext>
            </a:extLst>
          </p:cNvPr>
          <p:cNvSpPr txBox="1"/>
          <p:nvPr/>
        </p:nvSpPr>
        <p:spPr>
          <a:xfrm>
            <a:off x="746275" y="2654666"/>
            <a:ext cx="10699449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Exemple concret</a:t>
            </a:r>
          </a:p>
          <a:p>
            <a:r>
              <a:rPr lang="fr-FR" dirty="0"/>
              <a:t>En 2021, une enquête internationale (Projet Pegasus) a révélé que le logiciel espion Pegasus avait été utilisé pour cibler les téléphones de plusieurs chefs d’État et responsables politiques, dont Emmanuel Macron, le président français.</a:t>
            </a:r>
          </a:p>
          <a:p>
            <a:endParaRPr lang="fr-FR" dirty="0"/>
          </a:p>
          <a:p>
            <a:r>
              <a:rPr lang="fr-FR" dirty="0"/>
              <a:t>Le spyware exploitait des failles 0-day dans iOS (le système d’Apple) pour s’installer à distance sans action de l’utilisateur.</a:t>
            </a:r>
          </a:p>
          <a:p>
            <a:endParaRPr lang="fr-FR" dirty="0"/>
          </a:p>
          <a:p>
            <a:r>
              <a:rPr lang="fr-FR" dirty="0"/>
              <a:t>Une fois infiltré, Pegasus pouvait lire les messages, écouter les appels, activer le micro ou la caméra du téléphone, transformant ainsi l’appareil en véritable outil d’espionnage.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5FDC0C3-79A3-A4B4-0406-5778C21F8D6F}"/>
              </a:ext>
            </a:extLst>
          </p:cNvPr>
          <p:cNvSpPr txBox="1"/>
          <p:nvPr/>
        </p:nvSpPr>
        <p:spPr>
          <a:xfrm>
            <a:off x="3678061" y="5816841"/>
            <a:ext cx="4835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Cette faille appartient à la catégorie technique.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3C58524-2B16-E108-8C75-D058E4A05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5BA5A3-8BFE-5283-8FC7-9E2212EC4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7964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9CD0AB-8CEC-13AA-1000-0A6ABA413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4456"/>
          </a:xfrm>
        </p:spPr>
        <p:txBody>
          <a:bodyPr/>
          <a:lstStyle/>
          <a:p>
            <a:pPr algn="ctr"/>
            <a:r>
              <a:rPr lang="fr-FR" dirty="0"/>
              <a:t>Impacts et enjeux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783D3D-8EEF-FDD9-39F0-1E93A0C79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7804"/>
            <a:ext cx="10515600" cy="518506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dirty="0"/>
              <a:t>Les conséquences possibles d’une telle attaque sont :</a:t>
            </a:r>
          </a:p>
          <a:p>
            <a:pPr marL="0" indent="0">
              <a:buNone/>
            </a:pPr>
            <a:endParaRPr lang="fr-FR" sz="1500" dirty="0"/>
          </a:p>
          <a:p>
            <a:pPr>
              <a:buFontTx/>
              <a:buChar char="-"/>
            </a:pPr>
            <a:r>
              <a:rPr lang="fr-FR" sz="2400" dirty="0"/>
              <a:t>Sur le plan Financier : </a:t>
            </a:r>
          </a:p>
          <a:p>
            <a:pPr marL="0" indent="0">
              <a:buNone/>
            </a:pPr>
            <a:r>
              <a:rPr lang="fr-FR" sz="1200" dirty="0"/>
              <a:t>Pertes économiques liées à la fuite d’informations stratégiques /  Achat ou remplacement de matériel compromis / Coûts élevés d’investigation et de sécurisation des systèmes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- Sur le plan Organisationnelles : </a:t>
            </a:r>
          </a:p>
          <a:p>
            <a:pPr marL="0" indent="0">
              <a:buNone/>
            </a:pPr>
            <a:r>
              <a:rPr lang="fr-FR" sz="1050" dirty="0"/>
              <a:t>Inte</a:t>
            </a:r>
            <a:r>
              <a:rPr lang="fr-FR" sz="1200" dirty="0"/>
              <a:t>rruption d’activité en cas de compromission d’appareils essentiels /  Fuite ou perte de données sensibles / Perturbation du fonctionnement</a:t>
            </a:r>
          </a:p>
          <a:p>
            <a:pPr marL="0" indent="0">
              <a:buNone/>
            </a:pPr>
            <a:endParaRPr lang="fr-FR" sz="1050" dirty="0"/>
          </a:p>
          <a:p>
            <a:pPr>
              <a:buFontTx/>
              <a:buChar char="-"/>
            </a:pPr>
            <a:r>
              <a:rPr lang="fr-FR" sz="2400" dirty="0"/>
              <a:t>Sur le plan juridiques / réglementaires :</a:t>
            </a:r>
          </a:p>
          <a:p>
            <a:pPr marL="0" indent="0">
              <a:buNone/>
            </a:pPr>
            <a:r>
              <a:rPr lang="fr-FR" sz="1200" dirty="0"/>
              <a:t>Obligation de notifier les autorités et les personnes concernées /  Enquêtes pour non-respect du RGPD / Poursuites pour atteinte à la vie privée ou espionnage illégal</a:t>
            </a:r>
          </a:p>
          <a:p>
            <a:pPr marL="0" indent="0">
              <a:buNone/>
            </a:pPr>
            <a:r>
              <a:rPr lang="fr-FR" sz="1050" dirty="0"/>
              <a:t> </a:t>
            </a:r>
          </a:p>
          <a:p>
            <a:pPr>
              <a:buFontTx/>
              <a:buChar char="-"/>
            </a:pPr>
            <a:r>
              <a:rPr lang="fr-FR" sz="2400" dirty="0"/>
              <a:t>Sur le plan d’image et la confiance de marque : </a:t>
            </a:r>
          </a:p>
          <a:p>
            <a:pPr marL="0" indent="0">
              <a:buNone/>
            </a:pPr>
            <a:r>
              <a:rPr lang="fr-FR" sz="1200" dirty="0"/>
              <a:t>Perte de confiance à tous les niveaux /  Atteinte à la réputation nationale ou institutionnelle</a:t>
            </a:r>
          </a:p>
          <a:p>
            <a:pPr marL="0" indent="0" algn="ctr">
              <a:buNone/>
            </a:pPr>
            <a:endParaRPr lang="fr-FR" sz="1050" dirty="0"/>
          </a:p>
          <a:p>
            <a:pPr marL="0" indent="0" algn="ctr">
              <a:buNone/>
            </a:pPr>
            <a:r>
              <a:rPr lang="fr-FR" sz="1600" b="1" dirty="0"/>
              <a:t>Le niveau de criticité est fort.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3D2484-C384-6659-8C2A-8BAEA5224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C7A20D0-87BD-2E48-052E-D8F96A9F8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1674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81C341-6E74-1596-0208-E2CBB4B32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Prévention et réponses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25CAC-EDD9-079A-8C53-AF7245898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dirty="0"/>
              <a:t>Les bonnes pratiques pour limiter ce type d’impacts sont :</a:t>
            </a:r>
          </a:p>
          <a:p>
            <a:pPr marL="0" indent="0">
              <a:buNone/>
            </a:pPr>
            <a:r>
              <a:rPr lang="fr-FR" sz="1200" dirty="0"/>
              <a:t>- Mettre à jour régulièrement les systèmes et applications </a:t>
            </a:r>
          </a:p>
          <a:p>
            <a:pPr marL="0" indent="0">
              <a:buNone/>
            </a:pPr>
            <a:r>
              <a:rPr lang="fr-FR" sz="1200" dirty="0"/>
              <a:t>- Limiter les droits d’accès </a:t>
            </a:r>
          </a:p>
          <a:p>
            <a:pPr marL="0" indent="0">
              <a:buNone/>
            </a:pPr>
            <a:r>
              <a:rPr lang="fr-FR" sz="1200" dirty="0"/>
              <a:t>- Mettre en place une veille de sécurité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outils et solutions techniques sont :</a:t>
            </a:r>
          </a:p>
          <a:p>
            <a:pPr marL="0" indent="0">
              <a:buNone/>
            </a:pPr>
            <a:r>
              <a:rPr lang="fr-FR" sz="1200" dirty="0"/>
              <a:t>- Authentification </a:t>
            </a:r>
            <a:r>
              <a:rPr lang="fr-FR" sz="1200" dirty="0" err="1"/>
              <a:t>multifacteur</a:t>
            </a:r>
            <a:r>
              <a:rPr lang="fr-FR" sz="1200" dirty="0"/>
              <a:t> pour limiter les accès </a:t>
            </a:r>
          </a:p>
          <a:p>
            <a:pPr marL="0" indent="0">
              <a:buNone/>
            </a:pPr>
            <a:r>
              <a:rPr lang="fr-FR" sz="1200" dirty="0"/>
              <a:t>- Firewall applicatif et filtrage réseau </a:t>
            </a:r>
          </a:p>
          <a:p>
            <a:pPr marL="0" indent="0">
              <a:buNone/>
            </a:pPr>
            <a:r>
              <a:rPr lang="fr-FR" sz="1200" dirty="0"/>
              <a:t>- Chiffrement des données au repos et en transit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réponses à adopter en cas d’incident :</a:t>
            </a:r>
          </a:p>
          <a:p>
            <a:pPr marL="0" indent="0">
              <a:buNone/>
            </a:pPr>
            <a:r>
              <a:rPr lang="fr-FR" sz="1200" dirty="0"/>
              <a:t>- Isoler immédiatement les appareils suspects &amp; infectés</a:t>
            </a:r>
          </a:p>
          <a:p>
            <a:pPr marL="0" indent="0">
              <a:buNone/>
            </a:pPr>
            <a:r>
              <a:rPr lang="fr-FR" sz="1200" dirty="0"/>
              <a:t>- Communiquer sur l'attaque et l'impact  </a:t>
            </a:r>
            <a:endParaRPr lang="fr-FR" sz="105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923B818-5F9F-6C4B-67AD-F3BA60E0B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AB7B0D7-8EC8-06A9-71B4-C52401F49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222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25A0F5-CD45-712F-4059-C0F0FF8B7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Atelier 2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C0AA5E1-3CE3-97F8-19D0-AF8F3A0EE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901517-A0CF-44AB-B9D2-A665BB12B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1541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82FC3-7A23-F841-1737-361060548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918610CC-372E-2A6A-A1A0-D75D77B1C6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2768458"/>
              </p:ext>
            </p:extLst>
          </p:nvPr>
        </p:nvGraphicFramePr>
        <p:xfrm>
          <a:off x="838200" y="520995"/>
          <a:ext cx="10515600" cy="4293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1670279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518111543"/>
                    </a:ext>
                  </a:extLst>
                </a:gridCol>
              </a:tblGrid>
              <a:tr h="604078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Probabilité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Gravité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Impacte usagers et partenaires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639932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1</a:t>
                      </a:r>
                    </a:p>
                    <a:p>
                      <a:pPr algn="ctr"/>
                      <a:endParaRPr lang="fr-F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627584">
                <a:tc>
                  <a:txBody>
                    <a:bodyPr/>
                    <a:lstStyle/>
                    <a:p>
                      <a:r>
                        <a:rPr lang="fr-FR" sz="1000"/>
                        <a:t>Perte de connectivité Internet dans les bureaux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r>
                        <a:rPr lang="fr-FR" sz="1000"/>
                        <a:t>Bad buzz ou crise de à un incident communication suite technique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22D45E-30EC-B46D-1F10-A118C9254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B70FE3F-7703-445E-B778-EA3FD0A0E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4190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15B3F9B-3DA8-5AF1-6622-7DE26CD69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CBA4EB3-0101-9589-A944-EBD53B6AA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6</a:t>
            </a:fld>
            <a:endParaRPr lang="fr-FR"/>
          </a:p>
        </p:txBody>
      </p:sp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FE0A765D-D937-FE44-8639-E11734A079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96909"/>
              </p:ext>
            </p:extLst>
          </p:nvPr>
        </p:nvGraphicFramePr>
        <p:xfrm>
          <a:off x="195648" y="136524"/>
          <a:ext cx="11790405" cy="60665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0135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3930135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3930135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</a:tblGrid>
              <a:tr h="853526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RTO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RPO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990528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 -30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7751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886739">
                <a:tc>
                  <a:txBody>
                    <a:bodyPr/>
                    <a:lstStyle/>
                    <a:p>
                      <a:r>
                        <a:rPr lang="fr-FR" sz="1000"/>
                        <a:t>Perte de connectivité Internet dans les bureaux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? (1h)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r>
                        <a:rPr lang="fr-FR" sz="1000"/>
                        <a:t>Bad buzz ou crise de à un incident communication suite technique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? (1h)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1046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C0BAC4-6283-8E82-C4DC-E470683EB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8770"/>
            <a:ext cx="10515600" cy="795632"/>
          </a:xfrm>
        </p:spPr>
        <p:txBody>
          <a:bodyPr/>
          <a:lstStyle/>
          <a:p>
            <a:r>
              <a:rPr lang="fr-FR" dirty="0"/>
              <a:t>Plan de Continuité d’Activité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72A0CA3-7FF7-C5AF-4129-561C37E2EE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3637"/>
            <a:ext cx="10515600" cy="4530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800" b="1" dirty="0"/>
              <a:t>Définissez les activités vitales à maintenir en cas d’incident</a:t>
            </a:r>
          </a:p>
          <a:p>
            <a:pPr marL="0" indent="0">
              <a:buNone/>
            </a:pPr>
            <a:r>
              <a:rPr lang="fr-FR" sz="1400" dirty="0"/>
              <a:t>- La disponibilité des application Mobile et Web</a:t>
            </a:r>
          </a:p>
          <a:p>
            <a:pPr marL="0" indent="0">
              <a:buNone/>
            </a:pPr>
            <a:r>
              <a:rPr lang="fr-FR" sz="1400" dirty="0"/>
              <a:t>- Les systèmes de paiement</a:t>
            </a:r>
          </a:p>
          <a:p>
            <a:pPr marL="0" indent="0">
              <a:buNone/>
            </a:pPr>
            <a:r>
              <a:rPr lang="fr-FR" sz="1400" dirty="0"/>
              <a:t>- Les bases de données</a:t>
            </a:r>
          </a:p>
          <a:p>
            <a:pPr marL="0" indent="0">
              <a:buNone/>
            </a:pPr>
            <a:endParaRPr lang="fr-FR" sz="1000" dirty="0"/>
          </a:p>
          <a:p>
            <a:pPr marL="0" indent="0">
              <a:buNone/>
            </a:pPr>
            <a:r>
              <a:rPr lang="fr-FR" sz="1800" b="1" dirty="0"/>
              <a:t>Proposez des moyens de continuité minimale</a:t>
            </a:r>
          </a:p>
          <a:p>
            <a:pPr marL="0" indent="0">
              <a:buNone/>
            </a:pPr>
            <a:r>
              <a:rPr lang="fr-FR" sz="1800" dirty="0"/>
              <a:t>-</a:t>
            </a:r>
            <a:r>
              <a:rPr lang="fr-FR" sz="1400" dirty="0"/>
              <a:t> Des serveurs de secours</a:t>
            </a:r>
          </a:p>
          <a:p>
            <a:pPr marL="0" indent="0">
              <a:buNone/>
            </a:pPr>
            <a:r>
              <a:rPr lang="fr-FR" sz="1400" dirty="0"/>
              <a:t>- Des sauvegardes régulières prêt à prendre le relais</a:t>
            </a:r>
          </a:p>
          <a:p>
            <a:pPr marL="0" indent="0">
              <a:buNone/>
            </a:pPr>
            <a:r>
              <a:rPr lang="fr-FR" sz="1400" dirty="0"/>
              <a:t>- Autoriser le télétravail avec la mise en place d’un VPN</a:t>
            </a:r>
          </a:p>
          <a:p>
            <a:pPr marL="0" indent="0">
              <a:buNone/>
            </a:pPr>
            <a:endParaRPr lang="fr-FR" sz="1000" dirty="0"/>
          </a:p>
          <a:p>
            <a:pPr marL="0" indent="0">
              <a:buNone/>
            </a:pPr>
            <a:r>
              <a:rPr lang="fr-FR" sz="1800" b="1" dirty="0"/>
              <a:t>Proposez des moyens de continuité minimale</a:t>
            </a:r>
          </a:p>
          <a:p>
            <a:pPr marL="0" indent="0">
              <a:buNone/>
            </a:pPr>
            <a:endParaRPr lang="fr-FR" sz="1800" b="1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1C7A77-6469-5B6D-697C-48B1FA688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289B22-5F4D-D01E-18E4-96039CE8E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7</a:t>
            </a:fld>
            <a:endParaRPr lang="fr-FR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2B7E2238-892B-7FD8-065D-1CBDCD4B6A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018999"/>
              </p:ext>
            </p:extLst>
          </p:nvPr>
        </p:nvGraphicFramePr>
        <p:xfrm>
          <a:off x="6517054" y="3428999"/>
          <a:ext cx="5674946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2611">
                  <a:extLst>
                    <a:ext uri="{9D8B030D-6E8A-4147-A177-3AD203B41FA5}">
                      <a16:colId xmlns:a16="http://schemas.microsoft.com/office/drawing/2014/main" val="228330033"/>
                    </a:ext>
                  </a:extLst>
                </a:gridCol>
                <a:gridCol w="3752335">
                  <a:extLst>
                    <a:ext uri="{9D8B030D-6E8A-4147-A177-3AD203B41FA5}">
                      <a16:colId xmlns:a16="http://schemas.microsoft.com/office/drawing/2014/main" val="3130860348"/>
                    </a:ext>
                  </a:extLst>
                </a:gridCol>
              </a:tblGrid>
              <a:tr h="266110">
                <a:tc>
                  <a:txBody>
                    <a:bodyPr/>
                    <a:lstStyle/>
                    <a:p>
                      <a:r>
                        <a:rPr lang="fr-FR" dirty="0"/>
                        <a:t>Acteurs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Rôles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77561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Direction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Prise de direction stratégique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1752065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DSI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Gestion de l’IT est des solutions de continuité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770869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DevOps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Maintient de l’</a:t>
                      </a:r>
                      <a:r>
                        <a:rPr lang="fr-FR" dirty="0" err="1"/>
                        <a:t>infrastucture</a:t>
                      </a:r>
                      <a:r>
                        <a:rPr lang="fr-FR" dirty="0"/>
                        <a:t> et des incidents techniques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470985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Support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Réponse au demande technique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539947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Communication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Gestion de la communication entre les équipes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93225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1645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6607C5-8744-2DA8-280B-A1786B695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49178"/>
            <a:ext cx="10515600" cy="5027785"/>
          </a:xfrm>
        </p:spPr>
        <p:txBody>
          <a:bodyPr/>
          <a:lstStyle/>
          <a:p>
            <a:pPr marL="0" indent="0">
              <a:buNone/>
            </a:pPr>
            <a:r>
              <a:rPr lang="fr-FR" b="1" dirty="0"/>
              <a:t>Proposez une stratégie de sauvegarde et de restauration</a:t>
            </a:r>
          </a:p>
          <a:p>
            <a:pPr>
              <a:buFontTx/>
              <a:buChar char="-"/>
            </a:pPr>
            <a:r>
              <a:rPr lang="fr-FR" sz="1800" dirty="0"/>
              <a:t>Sauvegarde quotidienne et automatique des données</a:t>
            </a:r>
          </a:p>
          <a:p>
            <a:pPr>
              <a:buFontTx/>
              <a:buChar char="-"/>
            </a:pPr>
            <a:r>
              <a:rPr lang="fr-FR" sz="1800" dirty="0"/>
              <a:t>Utilisation de divers supports de stockages de données (cloud, disques, etc.)</a:t>
            </a:r>
          </a:p>
          <a:p>
            <a:pPr>
              <a:buFontTx/>
              <a:buChar char="-"/>
            </a:pPr>
            <a:r>
              <a:rPr lang="fr-FR" sz="1800" dirty="0"/>
              <a:t>Utilisation d’un système de </a:t>
            </a:r>
            <a:r>
              <a:rPr lang="fr-FR" sz="1800" dirty="0" err="1"/>
              <a:t>versionning</a:t>
            </a:r>
            <a:r>
              <a:rPr lang="fr-FR" sz="1800" dirty="0"/>
              <a:t> pour le SI (</a:t>
            </a:r>
            <a:r>
              <a:rPr lang="fr-FR" sz="1800" dirty="0" err="1"/>
              <a:t>github</a:t>
            </a:r>
            <a:r>
              <a:rPr lang="fr-FR" sz="1800" dirty="0"/>
              <a:t>, git)</a:t>
            </a:r>
          </a:p>
          <a:p>
            <a:pPr>
              <a:buFontTx/>
              <a:buChar char="-"/>
            </a:pPr>
            <a:endParaRPr lang="fr-FR" sz="1800"/>
          </a:p>
          <a:p>
            <a:pPr>
              <a:buFontTx/>
              <a:buChar char="-"/>
            </a:pPr>
            <a:endParaRPr lang="fr-FR" sz="180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DA69D77-0AED-1B9F-655F-3CB02B952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CCAEB9D-1C87-3C2D-AD84-7D4CB66F1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8</a:t>
            </a:fld>
            <a:endParaRPr lang="fr-FR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2D2CFAD4-DCE8-55A5-FA23-37EFFBE7AB09}"/>
              </a:ext>
            </a:extLst>
          </p:cNvPr>
          <p:cNvSpPr txBox="1">
            <a:spLocks/>
          </p:cNvSpPr>
          <p:nvPr/>
        </p:nvSpPr>
        <p:spPr>
          <a:xfrm>
            <a:off x="838200" y="238770"/>
            <a:ext cx="10515600" cy="7956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Plan de Reprise d’Activité </a:t>
            </a:r>
          </a:p>
        </p:txBody>
      </p:sp>
    </p:spTree>
    <p:extLst>
      <p:ext uri="{BB962C8B-B14F-4D97-AF65-F5344CB8AC3E}">
        <p14:creationId xmlns:p14="http://schemas.microsoft.com/office/powerpoint/2010/main" val="334994693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223</TotalTime>
  <Words>710</Words>
  <Application>Microsoft Macintosh PowerPoint</Application>
  <PresentationFormat>Grand écran</PresentationFormat>
  <Paragraphs>134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Thème Office</vt:lpstr>
      <vt:lpstr>Exploitation de failles 0-day</vt:lpstr>
      <vt:lpstr>Impacts et enjeux</vt:lpstr>
      <vt:lpstr>Prévention et réponses</vt:lpstr>
      <vt:lpstr>Atelier 2</vt:lpstr>
      <vt:lpstr>Présentation PowerPoint</vt:lpstr>
      <vt:lpstr>Présentation PowerPoint</vt:lpstr>
      <vt:lpstr>Plan de Continuité d’Activité 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Lilian Mirabel</dc:creator>
  <cp:lastModifiedBy>Lilian Mirabel</cp:lastModifiedBy>
  <cp:revision>28</cp:revision>
  <dcterms:created xsi:type="dcterms:W3CDTF">2025-10-07T15:26:07Z</dcterms:created>
  <dcterms:modified xsi:type="dcterms:W3CDTF">2025-10-08T11:07:03Z</dcterms:modified>
</cp:coreProperties>
</file>