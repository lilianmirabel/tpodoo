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5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F4182-2D06-DAD4-452F-1FA27CDC0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3F5DCA3-46CD-F463-A0AC-4E1377820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49025-355F-3FEE-D26D-D7E9FB4F4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2EF314-1F5C-F139-2569-13B3883C5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49A0B6-7AC7-0485-8E61-97CBD8602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508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7609D-0370-71E5-65C6-0B83235A4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F96FB5-ED54-C2EF-4A43-FB6172D9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8729D3-2241-4F5B-A415-9426788F3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BF9D0C-DAA4-D60F-4D5A-CE83F23BF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C1729A-08B2-1DE4-589C-DE02D8B5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553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4F341A-4CE0-BF18-632E-4A82D4DB6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0814189-5FB5-E2BE-22A7-65CBB1DFD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9ECC9D-148E-3A6F-0E28-0AF54DB5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A4FEC0-A9D0-32F6-2FC7-C3B8BB503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7258EE-379C-8C3D-C843-64BF6650A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988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842CB-A2AD-F73F-FBC4-D387D5FA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B047D-F2A0-4411-E6DA-A5037B697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B4BE887-E29B-78E6-9518-F6D279F0B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3D83F8-A6E1-2C02-971B-EA0662CF4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0F91F1B-6330-7385-9071-44BF6382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7DEF67-2986-7A0C-524F-E02BB09E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895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48E7A4-BC7A-0AFB-8A98-3D7F921C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F22C33-DE27-0ABD-9E8E-4EA260021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3BC6105-F9E5-3FC6-1A41-F90BD9113A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1D6FFF-81C7-440B-1BC0-746B457B2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08EB243-AFD4-859A-B12C-4F6E83C043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4F6237-4973-09FE-97EB-DB869046C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540542C-329E-4558-5CC4-BEB02321C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4814445-6319-BB4F-4DA2-084DAFB7E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636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4F85FF-DB95-CBB1-9FAF-29E52784E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B3A98B1-0CF7-51FC-C539-A814838B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6699B18-92E6-FB8E-F01B-0466750A1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CE1B12F-2C68-6739-1D79-2B94FD274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26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188C939-EAC1-17DB-4C3D-24C520EB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CB69A22-CE1E-529F-1EC2-006C0CCCE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A9348B3-FA92-C93A-5D06-2449B917E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344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44A212-6222-F8D3-1D0C-733D74F87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30F12A-6585-0ABD-6C9C-02A9A2D50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25272D-53BC-27BB-7B7E-FB211D5994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1953CA-412F-CCBC-12E0-2671F751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D5245B-BB21-2DB9-7F98-F8B30220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AE2193-A471-4B93-4F4D-2EFD76505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60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1239A3-E4A4-A8C4-50BC-F6BB500BB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24B50F7-8AFA-B1E6-06F5-90A1906993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AB0EC8-9F4C-94ED-F9BF-9ABE0B74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D4602F9-EAAF-93C4-B1C9-B68E11FAB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222CBF7-0508-B652-D491-440CDB4E5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518444-8217-0203-ABA7-492B52D85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708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C4F9B9-771F-7605-1D89-D40C3A016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2E54730-6871-A7A4-58C9-506457560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7F7021-70ED-23C2-CDCC-31D954A1A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C97E79-5444-C015-6EF1-C21AA42A9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00AE4B-5BA0-825A-1831-522CBB752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167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9B41B12-7E5C-F327-2D6D-4AA251918E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B236F24-47A0-9EF2-C4BD-64EE96BDD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1E7F23-B7F5-75B0-E850-259B3D6AE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11185F-7E26-83D3-1C31-C0F449ED0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EEE26B-B44E-2191-391D-4CB68CBF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2983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32CA837-1BD4-BD21-74E2-99FF9E1E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A7F487-A0C9-3AD9-288B-CF50881A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2C6746-B59A-3885-A962-4C51F8428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E1E0F1-822F-F04A-BDF4-578A088DEB18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4F35A8-DAA4-AC35-ACDF-B23A24EBBE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AF17A2-006B-2A44-5EC5-47C9D20B5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6688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02A83A-3580-38BD-F2BC-CECE03E1C4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8977"/>
            <a:ext cx="9144000" cy="904986"/>
          </a:xfrm>
        </p:spPr>
        <p:txBody>
          <a:bodyPr>
            <a:normAutofit fontScale="90000"/>
          </a:bodyPr>
          <a:lstStyle/>
          <a:p>
            <a:r>
              <a:rPr lang="fr-FR" dirty="0"/>
              <a:t>Exploitation de failles 0-day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2D0C6B-8523-1E28-18EC-D0974EFF0A05}"/>
              </a:ext>
            </a:extLst>
          </p:cNvPr>
          <p:cNvSpPr txBox="1"/>
          <p:nvPr/>
        </p:nvSpPr>
        <p:spPr>
          <a:xfrm>
            <a:off x="746275" y="1616149"/>
            <a:ext cx="10699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Une faille 0-day est une vulnérabilité informatique inconnue du fabricant et sans correctif disponible, que des pirates peuvent exploiter avant qu’elle ne soit corrigée.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A1C454-6DED-6F7D-C18D-29C8368B699E}"/>
              </a:ext>
            </a:extLst>
          </p:cNvPr>
          <p:cNvSpPr txBox="1"/>
          <p:nvPr/>
        </p:nvSpPr>
        <p:spPr>
          <a:xfrm>
            <a:off x="746275" y="2654666"/>
            <a:ext cx="1069944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Exemple concret</a:t>
            </a:r>
          </a:p>
          <a:p>
            <a:r>
              <a:rPr lang="fr-FR" dirty="0"/>
              <a:t>En 2021, une enquête internationale (Projet Pegasus) a révélé que le logiciel espion Pegasus avait été utilisé pour cibler les téléphones de plusieurs chefs d’État et responsables politiques, dont Emmanuel Macron, le président français.</a:t>
            </a:r>
          </a:p>
          <a:p>
            <a:endParaRPr lang="fr-FR" dirty="0"/>
          </a:p>
          <a:p>
            <a:r>
              <a:rPr lang="fr-FR" dirty="0"/>
              <a:t>Le spyware exploitait des failles 0-day dans iOS (le système d’Apple) pour s’installer à distance sans action de l’utilisateur.</a:t>
            </a:r>
          </a:p>
          <a:p>
            <a:endParaRPr lang="fr-FR" dirty="0"/>
          </a:p>
          <a:p>
            <a:r>
              <a:rPr lang="fr-FR" dirty="0"/>
              <a:t>Une fois infiltré, Pegasus pouvait lire les messages, écouter les appels, activer le micro ou la caméra du téléphone, transformant ainsi l’appareil en véritable outil d’espionnage.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5FDC0C3-79A3-A4B4-0406-5778C21F8D6F}"/>
              </a:ext>
            </a:extLst>
          </p:cNvPr>
          <p:cNvSpPr txBox="1"/>
          <p:nvPr/>
        </p:nvSpPr>
        <p:spPr>
          <a:xfrm>
            <a:off x="3707428" y="6169691"/>
            <a:ext cx="4777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Cette faille appartient à la catégorie technique</a:t>
            </a:r>
          </a:p>
        </p:txBody>
      </p:sp>
    </p:spTree>
    <p:extLst>
      <p:ext uri="{BB962C8B-B14F-4D97-AF65-F5344CB8AC3E}">
        <p14:creationId xmlns:p14="http://schemas.microsoft.com/office/powerpoint/2010/main" val="3287964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9CD0AB-8CEC-13AA-1000-0A6ABA413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4456"/>
          </a:xfrm>
        </p:spPr>
        <p:txBody>
          <a:bodyPr/>
          <a:lstStyle/>
          <a:p>
            <a:pPr algn="ctr"/>
            <a:r>
              <a:rPr lang="fr-FR" dirty="0"/>
              <a:t>Impacts et enjeux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83D3D-8EEF-FDD9-39F0-1E93A0C79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7804"/>
            <a:ext cx="10515600" cy="51850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Les conséquences possibles d’une telle attaque sont :</a:t>
            </a:r>
          </a:p>
          <a:p>
            <a:pPr marL="0" indent="0">
              <a:buNone/>
            </a:pPr>
            <a:endParaRPr lang="fr-FR" sz="1500" dirty="0"/>
          </a:p>
          <a:p>
            <a:pPr>
              <a:buFontTx/>
              <a:buChar char="-"/>
            </a:pPr>
            <a:r>
              <a:rPr lang="fr-FR" sz="2400" dirty="0"/>
              <a:t>Sur le plan Financier : </a:t>
            </a:r>
          </a:p>
          <a:p>
            <a:pPr marL="0" indent="0">
              <a:buNone/>
            </a:pPr>
            <a:r>
              <a:rPr lang="fr-FR" sz="1050" dirty="0"/>
              <a:t>Pertes économiques liées à la fuite d’informations stratégiques /  Achat ou remplacement de matériel compromis / Coûts élevés d’investigation et de sécurisation des systèmes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- Sur le plan Organisationnelles : </a:t>
            </a:r>
          </a:p>
          <a:p>
            <a:pPr marL="0" indent="0">
              <a:buNone/>
            </a:pPr>
            <a:r>
              <a:rPr lang="fr-FR" sz="1050" dirty="0"/>
              <a:t>Interruption d’activité en cas de compromission d’appareils essentiels /  Fuite ou perte de données sensibles / Perturbation du fonctionnement</a:t>
            </a:r>
          </a:p>
          <a:p>
            <a:pPr marL="0" indent="0">
              <a:buNone/>
            </a:pPr>
            <a:endParaRPr lang="fr-FR" sz="1050" dirty="0"/>
          </a:p>
          <a:p>
            <a:pPr>
              <a:buFontTx/>
              <a:buChar char="-"/>
            </a:pPr>
            <a:r>
              <a:rPr lang="fr-FR" sz="2400" dirty="0"/>
              <a:t>Sur le plan juridiques / réglementaires :</a:t>
            </a:r>
          </a:p>
          <a:p>
            <a:pPr marL="0" indent="0">
              <a:buNone/>
            </a:pPr>
            <a:r>
              <a:rPr lang="fr-FR" sz="1050" dirty="0"/>
              <a:t>Obligation de notifier les autorités et les personnes concernées /  Enquêtes pour non-respect du RGPD / Poursuites pour atteinte à la vie privée ou espionnage illégal</a:t>
            </a:r>
            <a:endParaRPr lang="fr-FR" sz="2400" dirty="0"/>
          </a:p>
          <a:p>
            <a:pPr marL="0" indent="0">
              <a:buNone/>
            </a:pPr>
            <a:r>
              <a:rPr lang="fr-FR" sz="1050" dirty="0"/>
              <a:t> </a:t>
            </a:r>
          </a:p>
          <a:p>
            <a:pPr>
              <a:buFontTx/>
              <a:buChar char="-"/>
            </a:pPr>
            <a:r>
              <a:rPr lang="fr-FR" sz="2400" dirty="0"/>
              <a:t>Sur le plan d’image et la confiance de marque : </a:t>
            </a:r>
          </a:p>
          <a:p>
            <a:pPr marL="0" indent="0">
              <a:buNone/>
            </a:pPr>
            <a:r>
              <a:rPr lang="fr-FR" sz="1050" dirty="0"/>
              <a:t>Perte de confiance à tous les niveaux /  Atteinte à la réputation nationale ou institutionnelle</a:t>
            </a:r>
            <a:endParaRPr lang="fr-FR" sz="2400" dirty="0"/>
          </a:p>
          <a:p>
            <a:pPr marL="0" indent="0">
              <a:buNone/>
            </a:pPr>
            <a:endParaRPr lang="fr-FR" sz="1050" dirty="0"/>
          </a:p>
          <a:p>
            <a:pPr marL="0" indent="0" algn="ctr">
              <a:buNone/>
            </a:pPr>
            <a:r>
              <a:rPr lang="fr-FR" sz="1600" b="1" dirty="0"/>
              <a:t>Le niveau de criticité est fort.</a:t>
            </a:r>
          </a:p>
        </p:txBody>
      </p:sp>
    </p:spTree>
    <p:extLst>
      <p:ext uri="{BB962C8B-B14F-4D97-AF65-F5344CB8AC3E}">
        <p14:creationId xmlns:p14="http://schemas.microsoft.com/office/powerpoint/2010/main" val="2751674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81C341-6E74-1596-0208-E2CBB4B32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Prévention et réponses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25CAC-EDD9-079A-8C53-AF7245898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sz="2400" dirty="0"/>
              <a:t>Les bonnes pratiques pour limiter ce type d’impacts sont :</a:t>
            </a:r>
          </a:p>
          <a:p>
            <a:pPr marL="0" indent="0">
              <a:buNone/>
            </a:pPr>
            <a:r>
              <a:rPr lang="fr-FR" sz="1050" dirty="0"/>
              <a:t>Mettre à jour régulièrement les systèmes et applications / Limiter les droits d’accès / Mettre en place une veille de sécurité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outils et solutions techniques sont :</a:t>
            </a:r>
          </a:p>
          <a:p>
            <a:pPr marL="0" indent="0">
              <a:buNone/>
            </a:pPr>
            <a:r>
              <a:rPr lang="fr-FR" sz="1050" dirty="0"/>
              <a:t>Authentification </a:t>
            </a:r>
            <a:r>
              <a:rPr lang="fr-FR" sz="1050" dirty="0" err="1"/>
              <a:t>multifacteur</a:t>
            </a:r>
            <a:r>
              <a:rPr lang="fr-FR" sz="1050" dirty="0"/>
              <a:t> pour limiter les accès / Firewall applicatif et filtrage réseau / Chiffrement des données au repos et en transit</a:t>
            </a:r>
            <a:endParaRPr lang="fr-FR" sz="2400" dirty="0"/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réponses à adopter en cas d’incident :</a:t>
            </a:r>
          </a:p>
          <a:p>
            <a:pPr marL="0" indent="0">
              <a:buNone/>
            </a:pPr>
            <a:r>
              <a:rPr lang="fr-FR" sz="1050" dirty="0"/>
              <a:t>Authentification </a:t>
            </a:r>
            <a:r>
              <a:rPr lang="fr-FR" sz="1050" dirty="0" err="1"/>
              <a:t>multifaacteur</a:t>
            </a:r>
            <a:r>
              <a:rPr lang="fr-FR" sz="1050" dirty="0"/>
              <a:t> pour limiter les accès / Firewall applicatif et filtrage réseau / Chiffrement des données au repos et en transit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156922292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354</Words>
  <Application>Microsoft Macintosh PowerPoint</Application>
  <PresentationFormat>Grand écran</PresentationFormat>
  <Paragraphs>34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Thème Office</vt:lpstr>
      <vt:lpstr>Exploitation de failles 0-day</vt:lpstr>
      <vt:lpstr>Impacts et enjeux</vt:lpstr>
      <vt:lpstr>Prévention et réponses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Lilian Mirabel</dc:creator>
  <cp:lastModifiedBy>Lilian Mirabel</cp:lastModifiedBy>
  <cp:revision>9</cp:revision>
  <dcterms:created xsi:type="dcterms:W3CDTF">2025-10-07T15:26:07Z</dcterms:created>
  <dcterms:modified xsi:type="dcterms:W3CDTF">2025-10-08T08:27:22Z</dcterms:modified>
</cp:coreProperties>
</file>