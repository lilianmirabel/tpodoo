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  <p:sldId id="269" r:id="rId12"/>
    <p:sldId id="268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87"/>
  </p:normalViewPr>
  <p:slideViewPr>
    <p:cSldViewPr snapToGrid="0">
      <p:cViewPr varScale="1">
        <p:scale>
          <a:sx n="120" d="100"/>
          <a:sy n="120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 dirty="0"/>
                        <a:t>Perte de connectivité Internet dans les bureaux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 dirty="0"/>
                        <a:t>Bad buzz ou crise de à un incident communication suite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637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2B7E2238-892B-7FD8-065D-1CBDCD4B6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8041"/>
              </p:ext>
            </p:extLst>
          </p:nvPr>
        </p:nvGraphicFramePr>
        <p:xfrm>
          <a:off x="6517054" y="3428999"/>
          <a:ext cx="567494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611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3752335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26611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607C5-8744-2DA8-280B-A1786B69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178"/>
            <a:ext cx="10515600" cy="502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Proposez une stratégie de sauvegarde et de restauration</a:t>
            </a:r>
          </a:p>
          <a:p>
            <a:pPr>
              <a:buFontTx/>
              <a:buChar char="-"/>
            </a:pPr>
            <a:r>
              <a:rPr lang="fr-FR" sz="1800" dirty="0"/>
              <a:t>Sauvegarde quotidienne et automatique des données</a:t>
            </a:r>
          </a:p>
          <a:p>
            <a:pPr>
              <a:buFontTx/>
              <a:buChar char="-"/>
            </a:pPr>
            <a:r>
              <a:rPr lang="fr-FR" sz="1800" dirty="0"/>
              <a:t>Utilisation de divers supports de stockages de données (cloud, disques, etc.)</a:t>
            </a:r>
          </a:p>
          <a:p>
            <a:pPr>
              <a:buFontTx/>
              <a:buChar char="-"/>
            </a:pPr>
            <a:r>
              <a:rPr lang="fr-FR" sz="1800" dirty="0"/>
              <a:t>Utilisation d’un système de </a:t>
            </a:r>
            <a:r>
              <a:rPr lang="fr-FR" sz="1800" dirty="0" err="1"/>
              <a:t>versionning</a:t>
            </a:r>
            <a:r>
              <a:rPr lang="fr-FR" sz="1800" dirty="0"/>
              <a:t> pour le SI (</a:t>
            </a:r>
            <a:r>
              <a:rPr lang="fr-FR" sz="1800" dirty="0" err="1"/>
              <a:t>github</a:t>
            </a:r>
            <a:r>
              <a:rPr lang="fr-FR" sz="1800" dirty="0"/>
              <a:t>, git)</a:t>
            </a:r>
          </a:p>
          <a:p>
            <a:pPr>
              <a:buFontTx/>
              <a:buChar char="-"/>
            </a:pPr>
            <a:endParaRPr lang="fr-FR" sz="1800" dirty="0"/>
          </a:p>
          <a:p>
            <a:pPr marL="0" indent="0">
              <a:buNone/>
            </a:pPr>
            <a:r>
              <a:rPr lang="fr-FR" b="1" dirty="0"/>
              <a:t>Décrivez les étapes de reprise après incident</a:t>
            </a:r>
          </a:p>
          <a:p>
            <a:pPr marL="514350" indent="-514350">
              <a:buAutoNum type="arabicPeriod"/>
            </a:pPr>
            <a:r>
              <a:rPr lang="fr-FR" sz="1900" dirty="0"/>
              <a:t>Analyse et vérification sur l’impact  et l’incidence du système et des données.</a:t>
            </a:r>
          </a:p>
          <a:p>
            <a:pPr marL="514350" indent="-514350">
              <a:buAutoNum type="arabicPeriod"/>
            </a:pPr>
            <a:r>
              <a:rPr lang="fr-FR" sz="1900" dirty="0"/>
              <a:t>Décision des différents acteurs sur les actions à entreprendre.</a:t>
            </a:r>
          </a:p>
          <a:p>
            <a:pPr marL="514350" indent="-514350">
              <a:buAutoNum type="arabicPeriod"/>
            </a:pPr>
            <a:r>
              <a:rPr lang="fr-FR" sz="1900" dirty="0"/>
              <a:t>Phase de test pour la validation des bons fonctionnements du système.</a:t>
            </a:r>
          </a:p>
          <a:p>
            <a:pPr marL="514350" indent="-514350">
              <a:buAutoNum type="arabicPeriod"/>
            </a:pPr>
            <a:r>
              <a:rPr lang="fr-FR" sz="1900" dirty="0"/>
              <a:t>Communication signaler la correction du problème.</a:t>
            </a:r>
          </a:p>
          <a:p>
            <a:pPr marL="514350" indent="-514350">
              <a:buAutoNum type="arabicPeriod"/>
            </a:pPr>
            <a:r>
              <a:rPr lang="fr-FR" sz="1900" dirty="0"/>
              <a:t>Re-disponibilité du service et retour a la normal.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69D77-0AED-1B9F-655F-3CB02B952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CAEB9D-1C87-3C2D-AD84-7D4CB66F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D2CFAD4-DCE8-55A5-FA23-37EFFBE7AB09}"/>
              </a:ext>
            </a:extLst>
          </p:cNvPr>
          <p:cNvSpPr txBox="1">
            <a:spLocks/>
          </p:cNvSpPr>
          <p:nvPr/>
        </p:nvSpPr>
        <p:spPr>
          <a:xfrm>
            <a:off x="838200" y="238770"/>
            <a:ext cx="10515600" cy="795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Plan de Reprise d’Activité </a:t>
            </a:r>
          </a:p>
        </p:txBody>
      </p:sp>
    </p:spTree>
    <p:extLst>
      <p:ext uri="{BB962C8B-B14F-4D97-AF65-F5344CB8AC3E}">
        <p14:creationId xmlns:p14="http://schemas.microsoft.com/office/powerpoint/2010/main" val="3349946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785F6-CB24-B3F1-DDF4-AA80F84F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Schéma simplifié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9B9E37-71C8-26A3-AEE9-02166F45F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234254-AF9E-26C1-1B25-8150666D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EF4814-C6BF-9ABD-4797-6C1A8863C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482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4878E-C162-9487-A85B-191EA970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Fiche PRA/PCA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C38C2D-D08E-76BA-90A4-72786E65D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/>
              <a:t>Contexte et Enjeux </a:t>
            </a:r>
            <a:r>
              <a:rPr lang="fr-FR" dirty="0"/>
              <a:t>: La startup </a:t>
            </a:r>
            <a:r>
              <a:rPr lang="fr-FR" dirty="0" err="1"/>
              <a:t>Covoit’Ouest</a:t>
            </a:r>
            <a:r>
              <a:rPr lang="fr-FR" dirty="0"/>
              <a:t> situé a La Rochelle </a:t>
            </a:r>
          </a:p>
          <a:p>
            <a:pPr marL="0" indent="0">
              <a:buNone/>
            </a:pPr>
            <a:r>
              <a:rPr lang="fr-FR" dirty="0"/>
              <a:t>est une entreprise qui dépend principalement de ses Systèmes d’Information.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Les enjeux sont donc importants pour </a:t>
            </a:r>
            <a:r>
              <a:rPr lang="fr-FR" dirty="0" err="1"/>
              <a:t>Covoit’Ouest</a:t>
            </a:r>
            <a:r>
              <a:rPr lang="fr-FR" dirty="0"/>
              <a:t> pour :</a:t>
            </a:r>
          </a:p>
          <a:p>
            <a:pPr>
              <a:buFontTx/>
              <a:buChar char="-"/>
            </a:pPr>
            <a:r>
              <a:rPr lang="fr-FR" dirty="0"/>
              <a:t>De garder une continuité du service permanant.</a:t>
            </a:r>
          </a:p>
          <a:p>
            <a:pPr>
              <a:buFontTx/>
              <a:buChar char="-"/>
            </a:pPr>
            <a:r>
              <a:rPr lang="fr-FR" dirty="0"/>
              <a:t>Limiter les pertes et vol de données.</a:t>
            </a:r>
          </a:p>
          <a:p>
            <a:pPr marL="0" indent="0">
              <a:buNone/>
            </a:pPr>
            <a:r>
              <a:rPr lang="fr-FR" dirty="0"/>
              <a:t>- Préserver la stabilité économique de l’entreprise.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3DAA80-D962-A203-22E7-53E858C1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F68BEA-F38E-97E2-48AA-CD2107A16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4690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DE5D65-0CDF-DF6D-1245-ECE8D618A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MATRICE RTO/RPO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C35F8FE9-6FEA-6F7A-25A4-E512D4747B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9903" y="1914525"/>
            <a:ext cx="11245009" cy="4257675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A3DDA9E-C759-9AEE-8015-D67931DF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BBE135-05B1-B7DE-C1D4-964D6801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11</a:t>
            </a:fld>
            <a:endParaRPr lang="fr-FR"/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C85BB4D7-2A7A-D61E-AF60-6085050017C4}"/>
              </a:ext>
            </a:extLst>
          </p:cNvPr>
          <p:cNvCxnSpPr>
            <a:cxnSpLocks/>
          </p:cNvCxnSpPr>
          <p:nvPr/>
        </p:nvCxnSpPr>
        <p:spPr>
          <a:xfrm flipV="1">
            <a:off x="555551" y="2424223"/>
            <a:ext cx="0" cy="3747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5DD027EA-39DD-2F5E-02AF-863E6720543D}"/>
              </a:ext>
            </a:extLst>
          </p:cNvPr>
          <p:cNvCxnSpPr>
            <a:cxnSpLocks/>
          </p:cNvCxnSpPr>
          <p:nvPr/>
        </p:nvCxnSpPr>
        <p:spPr>
          <a:xfrm>
            <a:off x="2041451" y="1690688"/>
            <a:ext cx="98934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CEF6DFE1-F2FA-B406-D954-8C359CE42F8F}"/>
              </a:ext>
            </a:extLst>
          </p:cNvPr>
          <p:cNvSpPr txBox="1"/>
          <p:nvPr/>
        </p:nvSpPr>
        <p:spPr>
          <a:xfrm>
            <a:off x="5869172" y="1282186"/>
            <a:ext cx="187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Gravité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6559B6C-C0F8-97C3-8883-EE9FAE416F52}"/>
              </a:ext>
            </a:extLst>
          </p:cNvPr>
          <p:cNvSpPr txBox="1"/>
          <p:nvPr/>
        </p:nvSpPr>
        <p:spPr>
          <a:xfrm rot="16200000">
            <a:off x="-564780" y="3858696"/>
            <a:ext cx="187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Probabilité</a:t>
            </a:r>
          </a:p>
        </p:txBody>
      </p:sp>
    </p:spTree>
    <p:extLst>
      <p:ext uri="{BB962C8B-B14F-4D97-AF65-F5344CB8AC3E}">
        <p14:creationId xmlns:p14="http://schemas.microsoft.com/office/powerpoint/2010/main" val="3945105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1A7F75-C87F-5ADA-F230-19F66191C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31628"/>
            <a:ext cx="10515600" cy="5645335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Les principales mesures techniques et organisationnelles.</a:t>
            </a:r>
          </a:p>
          <a:p>
            <a:pPr marL="0" indent="0">
              <a:buNone/>
            </a:pPr>
            <a:r>
              <a:rPr lang="fr-FR" sz="1900" dirty="0"/>
              <a:t>- Sauvegarde quotidienne automatisée.</a:t>
            </a:r>
          </a:p>
          <a:p>
            <a:pPr marL="0" indent="0">
              <a:buNone/>
            </a:pPr>
            <a:r>
              <a:rPr lang="fr-FR" sz="1900" dirty="0"/>
              <a:t>- Redondance des serveurs critiques.</a:t>
            </a:r>
          </a:p>
          <a:p>
            <a:pPr marL="0" indent="0">
              <a:buNone/>
            </a:pPr>
            <a:r>
              <a:rPr lang="fr-FR" sz="1900" dirty="0"/>
              <a:t>- </a:t>
            </a:r>
            <a:r>
              <a:rPr lang="fr-FR" sz="2000" dirty="0"/>
              <a:t>Formation annuelle des employés</a:t>
            </a:r>
            <a:r>
              <a:rPr lang="fr-FR" sz="1900" dirty="0"/>
              <a:t>.</a:t>
            </a:r>
          </a:p>
          <a:p>
            <a:pPr marL="0" indent="0">
              <a:buNone/>
            </a:pPr>
            <a:r>
              <a:rPr lang="fr-FR" sz="1900" dirty="0"/>
              <a:t>- Chiffrement des données.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Les procédures de test et de mise à jour annuelle du plan.</a:t>
            </a:r>
          </a:p>
          <a:p>
            <a:pPr marL="0" indent="0">
              <a:buNone/>
            </a:pPr>
            <a:r>
              <a:rPr lang="fr-FR" dirty="0"/>
              <a:t>- </a:t>
            </a:r>
            <a:r>
              <a:rPr lang="fr-FR" sz="1900" dirty="0"/>
              <a:t>Audit annuel du plan PRA/PCA</a:t>
            </a:r>
          </a:p>
          <a:p>
            <a:pPr marL="0" indent="0">
              <a:buNone/>
            </a:pPr>
            <a:r>
              <a:rPr lang="fr-FR" sz="1900" dirty="0"/>
              <a:t>- Mise à jour annuelle</a:t>
            </a:r>
          </a:p>
          <a:p>
            <a:pPr>
              <a:buFontTx/>
              <a:buChar char="-"/>
            </a:pPr>
            <a:r>
              <a:rPr lang="fr-FR" sz="1900" dirty="0"/>
              <a:t>Compte rendu de test documenté</a:t>
            </a:r>
          </a:p>
          <a:p>
            <a:pPr marL="0" indent="0">
              <a:buNone/>
            </a:pPr>
            <a:endParaRPr lang="fr-FR" sz="1900" dirty="0"/>
          </a:p>
          <a:p>
            <a:r>
              <a:rPr lang="fr-FR" dirty="0"/>
              <a:t>Une courte stratégie de communication de crise (qui parle, à qui, comment ?)</a:t>
            </a:r>
          </a:p>
          <a:p>
            <a:pPr>
              <a:buFontTx/>
              <a:buChar char="-"/>
            </a:pPr>
            <a:r>
              <a:rPr lang="fr-FR" sz="1900" dirty="0"/>
              <a:t>E-mail d’urgence à l’ensemble du personnel.</a:t>
            </a:r>
          </a:p>
          <a:p>
            <a:pPr>
              <a:buFontTx/>
              <a:buChar char="-"/>
            </a:pPr>
            <a:r>
              <a:rPr lang="fr-FR" sz="1900" dirty="0"/>
              <a:t>Message sur l’intranet interne ou Slack / Teams.</a:t>
            </a:r>
          </a:p>
          <a:p>
            <a:pPr>
              <a:buFontTx/>
              <a:buChar char="-"/>
            </a:pPr>
            <a:r>
              <a:rPr lang="fr-FR" sz="2000" dirty="0"/>
              <a:t>Le DSI informe immédiatement le Directeur Général </a:t>
            </a:r>
            <a:endParaRPr lang="fr-FR" sz="19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15B20-6B5F-C641-94FB-DF98F27FC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2678BF-0775-97DD-F00C-BA4CDFEA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87136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958</Words>
  <Application>Microsoft Macintosh PowerPoint</Application>
  <PresentationFormat>Grand écran</PresentationFormat>
  <Paragraphs>176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  <vt:lpstr>Présentation PowerPoint</vt:lpstr>
      <vt:lpstr>Schéma simplifié</vt:lpstr>
      <vt:lpstr>Fiche PRA/PCA</vt:lpstr>
      <vt:lpstr>MATRICE RTO/RPO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Ander PICIURA</cp:lastModifiedBy>
  <cp:revision>39</cp:revision>
  <dcterms:created xsi:type="dcterms:W3CDTF">2025-10-07T15:26:07Z</dcterms:created>
  <dcterms:modified xsi:type="dcterms:W3CDTF">2025-10-08T14:17:52Z</dcterms:modified>
</cp:coreProperties>
</file>