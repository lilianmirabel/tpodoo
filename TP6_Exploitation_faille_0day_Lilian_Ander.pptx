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87"/>
  </p:normalViewPr>
  <p:slideViewPr>
    <p:cSldViewPr snapToGrid="0">
      <p:cViewPr varScale="1">
        <p:scale>
          <a:sx n="104" d="100"/>
          <a:sy n="104" d="100"/>
        </p:scale>
        <p:origin x="89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AD1527-66CD-9E4E-9A4A-E615F4AE3ADF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A55F9-2E97-7241-9846-EC9802C82F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3067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8F4182-2D06-DAD4-452F-1FA27CDC0F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3F5DCA3-46CD-F463-A0AC-4E1377820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49025-355F-3FEE-D26D-D7E9FB4F4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B6D08A-29ED-0F40-BE4B-112543CE024C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2EF314-1F5C-F139-2569-13B3883C5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49A0B6-7AC7-0485-8E61-97CBD8602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508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D7609D-0370-71E5-65C6-0B83235A4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F96FB5-ED54-C2EF-4A43-FB6172D90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8729D3-2241-4F5B-A415-9426788F3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4C394-6D39-F94B-A864-4F5C2BA51027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ABF9D0C-DAA4-D60F-4D5A-CE83F23BF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C1729A-08B2-1DE4-589C-DE02D8B52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553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4F341A-4CE0-BF18-632E-4A82D4DB6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0814189-5FB5-E2BE-22A7-65CBB1DFD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9ECC9D-148E-3A6F-0E28-0AF54DB58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A96B8-2BF0-0E49-862C-F6F635FAF71A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5A4FEC0-A9D0-32F6-2FC7-C3B8BB503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7258EE-379C-8C3D-C843-64BF6650A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7988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B842CB-A2AD-F73F-FBC4-D387D5FA7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3EB047D-F2A0-4411-E6DA-A5037B697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B4BE887-E29B-78E6-9518-F6D279F0B4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3D83F8-A6E1-2C02-971B-EA0662CF4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F06A85-1303-2349-BB57-49EA37BA5217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0F91F1B-6330-7385-9071-44BF63829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47DEF67-2986-7A0C-524F-E02BB09EB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3895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48E7A4-BC7A-0AFB-8A98-3D7F921C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7F22C33-DE27-0ABD-9E8E-4EA2600215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3BC6105-F9E5-3FC6-1A41-F90BD9113A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1D6FFF-81C7-440B-1BC0-746B457B20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08EB243-AFD4-859A-B12C-4F6E83C043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54F6237-4973-09FE-97EB-DB869046C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9242F-07D9-8043-A870-6136609D36CE}" type="datetime1">
              <a:rPr lang="fr-FR" smtClean="0"/>
              <a:t>08/10/2025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540542C-329E-4558-5CC4-BEB02321C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4814445-6319-BB4F-4DA2-084DAFB7E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3636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4F85FF-DB95-CBB1-9FAF-29E52784E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B3A98B1-0CF7-51FC-C539-A814838B7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088BC-4391-6849-9602-11617F74056E}" type="datetime1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6699B18-92E6-FB8E-F01B-0466750A1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CE1B12F-2C68-6739-1D79-2B94FD274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2649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188C939-EAC1-17DB-4C3D-24C520EB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B5F1D-0359-924A-B38E-06A431E7B969}" type="datetime1">
              <a:rPr lang="fr-FR" smtClean="0"/>
              <a:t>08/10/2025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CB69A22-CE1E-529F-1EC2-006C0CCCE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A9348B3-FA92-C93A-5D06-2449B917E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344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44A212-6222-F8D3-1D0C-733D74F87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30F12A-6585-0ABD-6C9C-02A9A2D50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25272D-53BC-27BB-7B7E-FB211D5994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1953CA-412F-CCBC-12E0-2671F7514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38A17-4958-1340-99B5-05FAB9EDB7C8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DD5245B-BB21-2DB9-7F98-F8B302204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DAE2193-A471-4B93-4F4D-2EFD76505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60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1239A3-E4A4-A8C4-50BC-F6BB500BB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24B50F7-8AFA-B1E6-06F5-90A1906993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AB0EC8-9F4C-94ED-F9BF-9ABE0B74F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D4602F9-EAAF-93C4-B1C9-B68E11FAB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5D56A-66CA-444D-9833-F60B71DADDCE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222CBF7-0508-B652-D491-440CDB4E5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518444-8217-0203-ABA7-492B52D85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3708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C4F9B9-771F-7605-1D89-D40C3A016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2E54730-6871-A7A4-58C9-5064575608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07F7021-70ED-23C2-CDCC-31D954A1A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72BC1-1874-8D4D-8837-B8DB4BBB9254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C97E79-5444-C015-6EF1-C21AA42A9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00AE4B-5BA0-825A-1831-522CBB752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167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9B41B12-7E5C-F327-2D6D-4AA251918E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B236F24-47A0-9EF2-C4BD-64EE96BDDE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1E7F23-B7F5-75B0-E850-259B3D6AE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F1321-2D4D-884C-861E-2CE738DFEB12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11185F-7E26-83D3-1C31-C0F449ED0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8EEE26B-B44E-2191-391D-4CB68CBF9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2983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32CA837-1BD4-BD21-74E2-99FF9E1E2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A7F487-A0C9-3AD9-288B-CF50881A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2C6746-B59A-3885-A962-4C51F8428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C4FD2B-80F8-6343-B239-BF7EC7832045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4F35A8-DAA4-AC35-ACDF-B23A24EBBE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AF17A2-006B-2A44-5EC5-47C9D20B59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6688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02A83A-3580-38BD-F2BC-CECE03E1C4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18977"/>
            <a:ext cx="9144000" cy="904986"/>
          </a:xfrm>
        </p:spPr>
        <p:txBody>
          <a:bodyPr>
            <a:normAutofit fontScale="90000"/>
          </a:bodyPr>
          <a:lstStyle/>
          <a:p>
            <a:r>
              <a:rPr lang="fr-FR" dirty="0"/>
              <a:t>Exploitation de failles 0-day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2D0C6B-8523-1E28-18EC-D0974EFF0A05}"/>
              </a:ext>
            </a:extLst>
          </p:cNvPr>
          <p:cNvSpPr txBox="1"/>
          <p:nvPr/>
        </p:nvSpPr>
        <p:spPr>
          <a:xfrm>
            <a:off x="746275" y="1616149"/>
            <a:ext cx="106994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Une faille 0-day est une vulnérabilité informatique inconnue du fabricant et sans correctif disponible, que des pirates peuvent exploiter avant qu’elle ne soit corrigée.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A1C454-6DED-6F7D-C18D-29C8368B699E}"/>
              </a:ext>
            </a:extLst>
          </p:cNvPr>
          <p:cNvSpPr txBox="1"/>
          <p:nvPr/>
        </p:nvSpPr>
        <p:spPr>
          <a:xfrm>
            <a:off x="746275" y="2654666"/>
            <a:ext cx="10699449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Exemple concret</a:t>
            </a:r>
          </a:p>
          <a:p>
            <a:r>
              <a:rPr lang="fr-FR" dirty="0"/>
              <a:t>En 2021, une enquête internationale (Projet Pegasus) a révélé que le logiciel espion Pegasus avait été utilisé pour cibler les téléphones de plusieurs chefs d’État et responsables politiques, dont Emmanuel Macron, le président français.</a:t>
            </a:r>
          </a:p>
          <a:p>
            <a:endParaRPr lang="fr-FR" dirty="0"/>
          </a:p>
          <a:p>
            <a:r>
              <a:rPr lang="fr-FR" dirty="0"/>
              <a:t>Le spyware exploitait des failles 0-day dans iOS (le système d’Apple) pour s’installer à distance sans action de l’utilisateur.</a:t>
            </a:r>
          </a:p>
          <a:p>
            <a:endParaRPr lang="fr-FR" dirty="0"/>
          </a:p>
          <a:p>
            <a:r>
              <a:rPr lang="fr-FR" dirty="0"/>
              <a:t>Une fois infiltré, Pegasus pouvait lire les messages, écouter les appels, activer le micro ou la caméra du téléphone, transformant ainsi l’appareil en véritable outil d’espionnage.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5FDC0C3-79A3-A4B4-0406-5778C21F8D6F}"/>
              </a:ext>
            </a:extLst>
          </p:cNvPr>
          <p:cNvSpPr txBox="1"/>
          <p:nvPr/>
        </p:nvSpPr>
        <p:spPr>
          <a:xfrm>
            <a:off x="3678061" y="5816841"/>
            <a:ext cx="4835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dirty="0"/>
              <a:t>Cette faille appartient à la catégorie technique.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3C58524-2B16-E108-8C75-D058E4A05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15BA5A3-8BFE-5283-8FC7-9E2212EC4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7964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9CD0AB-8CEC-13AA-1000-0A6ABA413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4456"/>
          </a:xfrm>
        </p:spPr>
        <p:txBody>
          <a:bodyPr/>
          <a:lstStyle/>
          <a:p>
            <a:pPr algn="ctr"/>
            <a:r>
              <a:rPr lang="fr-FR" dirty="0"/>
              <a:t>Impacts et enjeux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783D3D-8EEF-FDD9-39F0-1E93A0C79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7804"/>
            <a:ext cx="10515600" cy="518506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dirty="0"/>
              <a:t>Les conséquences possibles d’une telle attaque sont :</a:t>
            </a:r>
          </a:p>
          <a:p>
            <a:pPr marL="0" indent="0">
              <a:buNone/>
            </a:pPr>
            <a:endParaRPr lang="fr-FR" sz="1500" dirty="0"/>
          </a:p>
          <a:p>
            <a:pPr>
              <a:buFontTx/>
              <a:buChar char="-"/>
            </a:pPr>
            <a:r>
              <a:rPr lang="fr-FR" sz="2400" dirty="0"/>
              <a:t>Sur le plan Financier : </a:t>
            </a:r>
          </a:p>
          <a:p>
            <a:pPr marL="0" indent="0">
              <a:buNone/>
            </a:pPr>
            <a:r>
              <a:rPr lang="fr-FR" sz="1200" dirty="0"/>
              <a:t>Pertes économiques liées à la fuite d’informations stratégiques /  Achat ou remplacement de matériel compromis / Coûts élevés d’investigation et de sécurisation des systèmes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- Sur le plan Organisationnelles : </a:t>
            </a:r>
          </a:p>
          <a:p>
            <a:pPr marL="0" indent="0">
              <a:buNone/>
            </a:pPr>
            <a:r>
              <a:rPr lang="fr-FR" sz="1050" dirty="0"/>
              <a:t>Inte</a:t>
            </a:r>
            <a:r>
              <a:rPr lang="fr-FR" sz="1200" dirty="0"/>
              <a:t>rruption d’activité en cas de compromission d’appareils essentiels /  Fuite ou perte de données sensibles / Perturbation du fonctionnement</a:t>
            </a:r>
          </a:p>
          <a:p>
            <a:pPr marL="0" indent="0">
              <a:buNone/>
            </a:pPr>
            <a:endParaRPr lang="fr-FR" sz="1050" dirty="0"/>
          </a:p>
          <a:p>
            <a:pPr>
              <a:buFontTx/>
              <a:buChar char="-"/>
            </a:pPr>
            <a:r>
              <a:rPr lang="fr-FR" sz="2400" dirty="0"/>
              <a:t>Sur le plan juridiques / réglementaires :</a:t>
            </a:r>
          </a:p>
          <a:p>
            <a:pPr marL="0" indent="0">
              <a:buNone/>
            </a:pPr>
            <a:r>
              <a:rPr lang="fr-FR" sz="1200" dirty="0"/>
              <a:t>Obligation de notifier les autorités et les personnes concernées /  Enquêtes pour non-respect du RGPD / Poursuites pour atteinte à la vie privée ou espionnage illégal</a:t>
            </a:r>
          </a:p>
          <a:p>
            <a:pPr marL="0" indent="0">
              <a:buNone/>
            </a:pPr>
            <a:r>
              <a:rPr lang="fr-FR" sz="1050" dirty="0"/>
              <a:t> </a:t>
            </a:r>
          </a:p>
          <a:p>
            <a:pPr>
              <a:buFontTx/>
              <a:buChar char="-"/>
            </a:pPr>
            <a:r>
              <a:rPr lang="fr-FR" sz="2400" dirty="0"/>
              <a:t>Sur le plan d’image et la confiance de marque : </a:t>
            </a:r>
          </a:p>
          <a:p>
            <a:pPr marL="0" indent="0">
              <a:buNone/>
            </a:pPr>
            <a:r>
              <a:rPr lang="fr-FR" sz="1200" dirty="0"/>
              <a:t>Perte de confiance à tous les niveaux /  Atteinte à la réputation nationale ou institutionnelle</a:t>
            </a:r>
          </a:p>
          <a:p>
            <a:pPr marL="0" indent="0" algn="ctr">
              <a:buNone/>
            </a:pPr>
            <a:endParaRPr lang="fr-FR" sz="1050" dirty="0"/>
          </a:p>
          <a:p>
            <a:pPr marL="0" indent="0" algn="ctr">
              <a:buNone/>
            </a:pPr>
            <a:r>
              <a:rPr lang="fr-FR" sz="1600" b="1" dirty="0"/>
              <a:t>Le niveau de criticité est fort.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03D2484-C384-6659-8C2A-8BAEA5224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C7A20D0-87BD-2E48-052E-D8F96A9F8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1674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81C341-6E74-1596-0208-E2CBB4B32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Prévention et réponses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25CAC-EDD9-079A-8C53-AF7245898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dirty="0"/>
              <a:t>Les bonnes pratiques pour limiter ce type d’impacts sont :</a:t>
            </a:r>
          </a:p>
          <a:p>
            <a:pPr marL="0" indent="0">
              <a:buNone/>
            </a:pPr>
            <a:r>
              <a:rPr lang="fr-FR" sz="1200" dirty="0"/>
              <a:t>- Mettre à jour régulièrement les systèmes et applications </a:t>
            </a:r>
          </a:p>
          <a:p>
            <a:pPr marL="0" indent="0">
              <a:buNone/>
            </a:pPr>
            <a:r>
              <a:rPr lang="fr-FR" sz="1200" dirty="0"/>
              <a:t>- Limiter les droits d’accès </a:t>
            </a:r>
          </a:p>
          <a:p>
            <a:pPr marL="0" indent="0">
              <a:buNone/>
            </a:pPr>
            <a:r>
              <a:rPr lang="fr-FR" sz="1200" dirty="0"/>
              <a:t>- Mettre en place une veille de sécurité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outils et solutions techniques sont :</a:t>
            </a:r>
          </a:p>
          <a:p>
            <a:pPr marL="0" indent="0">
              <a:buNone/>
            </a:pPr>
            <a:r>
              <a:rPr lang="fr-FR" sz="1200" dirty="0"/>
              <a:t>- Authentification </a:t>
            </a:r>
            <a:r>
              <a:rPr lang="fr-FR" sz="1200" dirty="0" err="1"/>
              <a:t>multifacteur</a:t>
            </a:r>
            <a:r>
              <a:rPr lang="fr-FR" sz="1200" dirty="0"/>
              <a:t> pour limiter les accès </a:t>
            </a:r>
          </a:p>
          <a:p>
            <a:pPr marL="0" indent="0">
              <a:buNone/>
            </a:pPr>
            <a:r>
              <a:rPr lang="fr-FR" sz="1200" dirty="0"/>
              <a:t>- Firewall applicatif et filtrage réseau </a:t>
            </a:r>
          </a:p>
          <a:p>
            <a:pPr marL="0" indent="0">
              <a:buNone/>
            </a:pPr>
            <a:r>
              <a:rPr lang="fr-FR" sz="1200" dirty="0"/>
              <a:t>- Chiffrement des données au repos et en transit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réponses à adopter en cas d’incident :</a:t>
            </a:r>
          </a:p>
          <a:p>
            <a:pPr marL="0" indent="0">
              <a:buNone/>
            </a:pPr>
            <a:r>
              <a:rPr lang="fr-FR" sz="1200" dirty="0"/>
              <a:t>- Isoler immédiatement les appareils suspects &amp; infectés</a:t>
            </a:r>
          </a:p>
          <a:p>
            <a:pPr marL="0" indent="0">
              <a:buNone/>
            </a:pPr>
            <a:r>
              <a:rPr lang="fr-FR" sz="1200" dirty="0"/>
              <a:t>- Communiquer sur l'attaque et l'impact  </a:t>
            </a:r>
            <a:endParaRPr lang="fr-FR" sz="105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923B818-5F9F-6C4B-67AD-F3BA60E0B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AB7B0D7-8EC8-06A9-71B4-C52401F49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92229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25A0F5-CD45-712F-4059-C0F0FF8B7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Atelier 2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C0AA5E1-3CE3-97F8-19D0-AF8F3A0EE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901517-A0CF-44AB-B9D2-A665BB12B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1541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9A0B714-C11C-AF13-9F12-D3BCF8F9A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626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fr-FR" sz="3600" dirty="0"/>
              <a:t>Liste des risques majeurs classé par gravité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4B7D059-9A98-E80F-2D9A-02B06E9FB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832"/>
            <a:ext cx="10515600" cy="4518284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fr-FR" dirty="0"/>
              <a:t>1. Cyberattaque (ransomware, vol de données utilisateurs).</a:t>
            </a:r>
          </a:p>
          <a:p>
            <a:pPr marL="514350" indent="-514350">
              <a:buAutoNum type="arabicPeriod"/>
            </a:pPr>
            <a:endParaRPr lang="fr-FR" dirty="0"/>
          </a:p>
          <a:p>
            <a:pPr marL="0" indent="0">
              <a:buNone/>
            </a:pPr>
            <a:r>
              <a:rPr lang="fr-FR" dirty="0"/>
              <a:t>2. Indisponibilité prolongée de l’application mobile.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3. Panne du cloud provider ou perte d’accès au serveur.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4. Erreur humaine lors du déploiement d’une mise à jour.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5. Perte de connectivité Internet dans les bureaux.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6. Bad buzz ou crise de à un incident communication suite technique.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0582856-CA36-4610-4E3E-4FB4B882E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2CDA127-FE27-DE2D-54FD-DB5D50C95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8059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7E15A-6DD4-A43C-BC94-3C9B76FE9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A5A70F-FCCD-3243-BAE1-9B301AC91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626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fr-FR" sz="3600" dirty="0"/>
              <a:t>Liste des risques majeurs classé par probabilité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B8A1869-7A0C-8F1E-4536-6058FB1AEE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832"/>
            <a:ext cx="10515600" cy="4635131"/>
          </a:xfrm>
        </p:spPr>
        <p:txBody>
          <a:bodyPr/>
          <a:lstStyle/>
          <a:p>
            <a:pPr marL="0" indent="0">
              <a:buNone/>
            </a:pPr>
            <a:r>
              <a:rPr lang="fr-FR" dirty="0"/>
              <a:t>3. Perte de connectivité Internet dans les bureaux.</a:t>
            </a:r>
          </a:p>
          <a:p>
            <a:pPr marL="0" indent="0">
              <a:buNone/>
            </a:pPr>
            <a:r>
              <a:rPr lang="fr-FR" dirty="0"/>
              <a:t>1. Indisponibilité prolongée de l’application mobile.</a:t>
            </a:r>
          </a:p>
          <a:p>
            <a:pPr marL="0" indent="0">
              <a:buNone/>
            </a:pPr>
            <a:r>
              <a:rPr lang="fr-FR" dirty="0"/>
              <a:t>2. Erreur humaine lors du déploiement d’une mise à jour.</a:t>
            </a:r>
          </a:p>
          <a:p>
            <a:pPr marL="0" indent="0">
              <a:buNone/>
            </a:pPr>
            <a:r>
              <a:rPr lang="fr-FR" dirty="0"/>
              <a:t>4. Cyberattaque (ransomware, vol de données utilisateurs).</a:t>
            </a:r>
          </a:p>
          <a:p>
            <a:pPr marL="0" indent="0">
              <a:buNone/>
            </a:pPr>
            <a:r>
              <a:rPr lang="fr-FR" dirty="0"/>
              <a:t>5. Panne du cloud provider ou perte d’accès au serveur.</a:t>
            </a:r>
          </a:p>
          <a:p>
            <a:pPr marL="0" indent="0">
              <a:buNone/>
            </a:pPr>
            <a:r>
              <a:rPr lang="fr-FR" dirty="0"/>
              <a:t>6. Bad buzz ou crise de communication suite à un incident</a:t>
            </a:r>
          </a:p>
          <a:p>
            <a:pPr marL="0" indent="0">
              <a:buNone/>
            </a:pPr>
            <a:r>
              <a:rPr lang="fr-FR" dirty="0"/>
              <a:t>technique.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0226A48-77C0-E18E-0307-6F56FFAED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0E3E69D-48C8-033B-D0E8-78B3253C2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08052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82FC3-7A23-F841-1737-361060548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918610CC-372E-2A6A-A1A0-D75D77B1C6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2768458"/>
              </p:ext>
            </p:extLst>
          </p:nvPr>
        </p:nvGraphicFramePr>
        <p:xfrm>
          <a:off x="838200" y="520995"/>
          <a:ext cx="10515600" cy="4293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77729741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1633701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72178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1670279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518111543"/>
                    </a:ext>
                  </a:extLst>
                </a:gridCol>
              </a:tblGrid>
              <a:tr h="604078">
                <a:tc>
                  <a:txBody>
                    <a:bodyPr/>
                    <a:lstStyle/>
                    <a:p>
                      <a:pPr algn="ctr"/>
                      <a:r>
                        <a:rPr lang="fr-FR" sz="1500" dirty="0"/>
                        <a:t>Risques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Probabilité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Gravité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Impacte usagers et partenaires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616801"/>
                  </a:ext>
                </a:extLst>
              </a:tr>
              <a:tr h="639932">
                <a:tc>
                  <a:txBody>
                    <a:bodyPr/>
                    <a:lstStyle/>
                    <a:p>
                      <a:r>
                        <a:rPr lang="fr-FR" sz="1000" dirty="0"/>
                        <a:t>Cyberattaque (ransomware, vol de données utilisateurs).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/>
                        <a:t>1</a:t>
                      </a:r>
                    </a:p>
                    <a:p>
                      <a:pPr algn="ctr"/>
                      <a:endParaRPr lang="fr-F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401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Indisponibilité prolongée de l’application mobile.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663827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Panne du cloud provider ou perte d’accès au serveur.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2098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Erreur humaine lors du déploiement d’une mise à jour.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5536059"/>
                  </a:ext>
                </a:extLst>
              </a:tr>
              <a:tr h="627584">
                <a:tc>
                  <a:txBody>
                    <a:bodyPr/>
                    <a:lstStyle/>
                    <a:p>
                      <a:r>
                        <a:rPr lang="fr-FR" sz="1000"/>
                        <a:t>Perte de connectivité Internet dans les bureaux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21020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r>
                        <a:rPr lang="fr-FR" sz="1000"/>
                        <a:t>Bad buzz ou crise de à un incident communication suite technique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29969"/>
                  </a:ext>
                </a:extLst>
              </a:tr>
            </a:tbl>
          </a:graphicData>
        </a:graphic>
      </p:graphicFrame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22D45E-30EC-B46D-1F10-A118C9254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B70FE3F-7703-445E-B778-EA3FD0A0E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41900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15B3F9B-3DA8-5AF1-6622-7DE26CD69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CBA4EB3-0101-9589-A944-EBD53B6AA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8</a:t>
            </a:fld>
            <a:endParaRPr lang="fr-FR"/>
          </a:p>
        </p:txBody>
      </p:sp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FE0A765D-D937-FE44-8639-E11734A079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096909"/>
              </p:ext>
            </p:extLst>
          </p:nvPr>
        </p:nvGraphicFramePr>
        <p:xfrm>
          <a:off x="195648" y="136524"/>
          <a:ext cx="11790405" cy="60665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0135">
                  <a:extLst>
                    <a:ext uri="{9D8B030D-6E8A-4147-A177-3AD203B41FA5}">
                      <a16:colId xmlns:a16="http://schemas.microsoft.com/office/drawing/2014/main" val="1777297413"/>
                    </a:ext>
                  </a:extLst>
                </a:gridCol>
                <a:gridCol w="3930135">
                  <a:extLst>
                    <a:ext uri="{9D8B030D-6E8A-4147-A177-3AD203B41FA5}">
                      <a16:colId xmlns:a16="http://schemas.microsoft.com/office/drawing/2014/main" val="1916337012"/>
                    </a:ext>
                  </a:extLst>
                </a:gridCol>
                <a:gridCol w="3930135">
                  <a:extLst>
                    <a:ext uri="{9D8B030D-6E8A-4147-A177-3AD203B41FA5}">
                      <a16:colId xmlns:a16="http://schemas.microsoft.com/office/drawing/2014/main" val="1721789"/>
                    </a:ext>
                  </a:extLst>
                </a:gridCol>
              </a:tblGrid>
              <a:tr h="853526">
                <a:tc>
                  <a:txBody>
                    <a:bodyPr/>
                    <a:lstStyle/>
                    <a:p>
                      <a:pPr algn="ctr"/>
                      <a:r>
                        <a:rPr lang="fr-FR" sz="1500" dirty="0"/>
                        <a:t>Risques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RTO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RPO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616801"/>
                  </a:ext>
                </a:extLst>
              </a:tr>
              <a:tr h="990528">
                <a:tc>
                  <a:txBody>
                    <a:bodyPr/>
                    <a:lstStyle/>
                    <a:p>
                      <a:r>
                        <a:rPr lang="fr-FR" sz="1000" dirty="0"/>
                        <a:t>Cyberattaque (ransomware, vol de données utilisateurs).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401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Indisponibilité prolongée de l’application mobile.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663827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Panne du cloud provider ou perte d’accès au serveur.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 -30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209899"/>
                  </a:ext>
                </a:extLst>
              </a:tr>
              <a:tr h="7751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Erreur humaine lors du déploiement d’une mise à jour.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5536059"/>
                  </a:ext>
                </a:extLst>
              </a:tr>
              <a:tr h="886739">
                <a:tc>
                  <a:txBody>
                    <a:bodyPr/>
                    <a:lstStyle/>
                    <a:p>
                      <a:r>
                        <a:rPr lang="fr-FR" sz="1000"/>
                        <a:t>Perte de connectivité Internet dans les bureaux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? (1h)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21020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r>
                        <a:rPr lang="fr-FR" sz="1000"/>
                        <a:t>Bad buzz ou crise de à un incident communication suite technique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/>
                        <a:t>? (1h)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299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104655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</TotalTime>
  <Words>707</Words>
  <Application>Microsoft Macintosh PowerPoint</Application>
  <PresentationFormat>Grand écran</PresentationFormat>
  <Paragraphs>125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Thème Office</vt:lpstr>
      <vt:lpstr>Exploitation de failles 0-day</vt:lpstr>
      <vt:lpstr>Impacts et enjeux</vt:lpstr>
      <vt:lpstr>Prévention et réponses</vt:lpstr>
      <vt:lpstr>Atelier 2</vt:lpstr>
      <vt:lpstr>Liste des risques majeurs classé par gravité</vt:lpstr>
      <vt:lpstr>Liste des risques majeurs classé par probabilité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Lilian Mirabel</dc:creator>
  <cp:lastModifiedBy>Ander PICIURA</cp:lastModifiedBy>
  <cp:revision>19</cp:revision>
  <dcterms:created xsi:type="dcterms:W3CDTF">2025-10-07T15:26:07Z</dcterms:created>
  <dcterms:modified xsi:type="dcterms:W3CDTF">2025-10-08T09:38:13Z</dcterms:modified>
</cp:coreProperties>
</file>