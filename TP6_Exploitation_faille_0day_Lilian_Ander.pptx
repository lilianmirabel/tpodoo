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  <p:sldId id="267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04"/>
  </p:normalViewPr>
  <p:slideViewPr>
    <p:cSldViewPr snapToGrid="0">
      <p:cViewPr varScale="1">
        <p:scale>
          <a:sx n="104" d="100"/>
          <a:sy n="104" d="100"/>
        </p:scale>
        <p:origin x="232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5A0F5-CD45-712F-4059-C0F0FF8B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2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0AA5E1-3CE3-97F8-19D0-AF8F3A0E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901517-A0CF-44AB-B9D2-A665BB12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1541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2FC3-7A23-F841-1737-36106054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918610CC-372E-2A6A-A1A0-D75D77B1C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768458"/>
              </p:ext>
            </p:extLst>
          </p:nvPr>
        </p:nvGraphicFramePr>
        <p:xfrm>
          <a:off x="838200" y="520995"/>
          <a:ext cx="10515600" cy="4293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167027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18111543"/>
                    </a:ext>
                  </a:extLst>
                </a:gridCol>
              </a:tblGrid>
              <a:tr h="604078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Probabilité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Gravité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Impacte usagers et partenaires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639932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1</a:t>
                      </a:r>
                    </a:p>
                    <a:p>
                      <a:pPr algn="ctr"/>
                      <a:endParaRPr lang="fr-F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627584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22D45E-30EC-B46D-1F10-A118C9254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70FE3F-7703-445E-B778-EA3FD0A0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4190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15B3F9B-3DA8-5AF1-6622-7DE26CD69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A4EB3-0101-9589-A944-EBD53B6A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6</a:t>
            </a:fld>
            <a:endParaRPr lang="fr-FR"/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FE0A765D-D937-FE44-8639-E11734A07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96909"/>
              </p:ext>
            </p:extLst>
          </p:nvPr>
        </p:nvGraphicFramePr>
        <p:xfrm>
          <a:off x="195648" y="136524"/>
          <a:ext cx="11790405" cy="60665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0135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</a:tblGrid>
              <a:tr h="853526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RPO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990528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 -30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7751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886739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046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C0BAC4-6283-8E82-C4DC-E470683EB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770"/>
            <a:ext cx="10515600" cy="795632"/>
          </a:xfrm>
        </p:spPr>
        <p:txBody>
          <a:bodyPr/>
          <a:lstStyle/>
          <a:p>
            <a:r>
              <a:rPr lang="fr-FR" dirty="0"/>
              <a:t>Plan de Continuité d’Activité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2A0CA3-7FF7-C5AF-4129-561C37E2E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637"/>
            <a:ext cx="10515600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800" b="1" dirty="0"/>
              <a:t>Définissez les activités vitales à maintenir en cas d’incident</a:t>
            </a:r>
          </a:p>
          <a:p>
            <a:pPr marL="0" indent="0">
              <a:buNone/>
            </a:pPr>
            <a:r>
              <a:rPr lang="fr-FR" sz="1400" dirty="0"/>
              <a:t>- La disponibilité des application Mobile et Web</a:t>
            </a:r>
          </a:p>
          <a:p>
            <a:pPr marL="0" indent="0">
              <a:buNone/>
            </a:pPr>
            <a:r>
              <a:rPr lang="fr-FR" sz="1400" dirty="0"/>
              <a:t>- Les systèmes de paiement</a:t>
            </a:r>
          </a:p>
          <a:p>
            <a:pPr marL="0" indent="0">
              <a:buNone/>
            </a:pPr>
            <a:r>
              <a:rPr lang="fr-FR" sz="1400" dirty="0"/>
              <a:t>- Les bases de données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r>
              <a:rPr lang="fr-FR" sz="1800" dirty="0"/>
              <a:t>-</a:t>
            </a:r>
            <a:r>
              <a:rPr lang="fr-FR" sz="1400" dirty="0"/>
              <a:t> Des serveurs de secours</a:t>
            </a:r>
          </a:p>
          <a:p>
            <a:pPr marL="0" indent="0">
              <a:buNone/>
            </a:pPr>
            <a:r>
              <a:rPr lang="fr-FR" sz="1400" dirty="0"/>
              <a:t>- Des sauvegardes régulières prêt à prendre le relais</a:t>
            </a:r>
          </a:p>
          <a:p>
            <a:pPr marL="0" indent="0">
              <a:buNone/>
            </a:pPr>
            <a:r>
              <a:rPr lang="fr-FR" sz="1400" dirty="0"/>
              <a:t>- Autoriser le télétravail avec la mise en place d’un VPN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endParaRPr lang="fr-FR" sz="1800" b="1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1C7A77-6469-5B6D-697C-48B1FA68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289B22-5F4D-D01E-18E4-96039CE8E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7</a:t>
            </a:fld>
            <a:endParaRPr lang="fr-FR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2B7E2238-892B-7FD8-065D-1CBDCD4B6A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018999"/>
              </p:ext>
            </p:extLst>
          </p:nvPr>
        </p:nvGraphicFramePr>
        <p:xfrm>
          <a:off x="6517054" y="3428999"/>
          <a:ext cx="5674946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611">
                  <a:extLst>
                    <a:ext uri="{9D8B030D-6E8A-4147-A177-3AD203B41FA5}">
                      <a16:colId xmlns:a16="http://schemas.microsoft.com/office/drawing/2014/main" val="228330033"/>
                    </a:ext>
                  </a:extLst>
                </a:gridCol>
                <a:gridCol w="3752335">
                  <a:extLst>
                    <a:ext uri="{9D8B030D-6E8A-4147-A177-3AD203B41FA5}">
                      <a16:colId xmlns:a16="http://schemas.microsoft.com/office/drawing/2014/main" val="3130860348"/>
                    </a:ext>
                  </a:extLst>
                </a:gridCol>
              </a:tblGrid>
              <a:tr h="266110">
                <a:tc>
                  <a:txBody>
                    <a:bodyPr/>
                    <a:lstStyle/>
                    <a:p>
                      <a:r>
                        <a:rPr lang="fr-FR" dirty="0"/>
                        <a:t>Acteurs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Rôles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77561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Direction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Prise de direction stratégique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75206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DSI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l’IT est des solutions de continuité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770869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DevOps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Maintient de l’</a:t>
                      </a:r>
                      <a:r>
                        <a:rPr lang="fr-FR" dirty="0" err="1"/>
                        <a:t>infrastucture</a:t>
                      </a:r>
                      <a:r>
                        <a:rPr lang="fr-FR" dirty="0"/>
                        <a:t> et des incidents techniques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47098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Support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Réponse au demande technique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539947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Communication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la communication entre les équipes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322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1645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6607C5-8744-2DA8-280B-A1786B69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9178"/>
            <a:ext cx="10515600" cy="50277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/>
              <a:t>Proposez une stratégie de sauvegarde et de restauration</a:t>
            </a:r>
          </a:p>
          <a:p>
            <a:pPr>
              <a:buFontTx/>
              <a:buChar char="-"/>
            </a:pPr>
            <a:r>
              <a:rPr lang="fr-FR" sz="1800" dirty="0"/>
              <a:t>Sauvegarde quotidienne et automatique des données</a:t>
            </a:r>
          </a:p>
          <a:p>
            <a:pPr>
              <a:buFontTx/>
              <a:buChar char="-"/>
            </a:pPr>
            <a:r>
              <a:rPr lang="fr-FR" sz="1800" dirty="0"/>
              <a:t>Utilisation de divers supports de stockages de données (cloud, disques, etc.)</a:t>
            </a:r>
          </a:p>
          <a:p>
            <a:pPr>
              <a:buFontTx/>
              <a:buChar char="-"/>
            </a:pPr>
            <a:r>
              <a:rPr lang="fr-FR" sz="1800" dirty="0"/>
              <a:t>Utilisation d’un système de </a:t>
            </a:r>
            <a:r>
              <a:rPr lang="fr-FR" sz="1800" dirty="0" err="1"/>
              <a:t>versionning</a:t>
            </a:r>
            <a:r>
              <a:rPr lang="fr-FR" sz="1800" dirty="0"/>
              <a:t> pour le SI (</a:t>
            </a:r>
            <a:r>
              <a:rPr lang="fr-FR" sz="1800" dirty="0" err="1"/>
              <a:t>github</a:t>
            </a:r>
            <a:r>
              <a:rPr lang="fr-FR" sz="1800" dirty="0"/>
              <a:t>, git)</a:t>
            </a:r>
          </a:p>
          <a:p>
            <a:pPr>
              <a:buFontTx/>
              <a:buChar char="-"/>
            </a:pPr>
            <a:endParaRPr lang="fr-FR" sz="1800" dirty="0"/>
          </a:p>
          <a:p>
            <a:pPr marL="0" indent="0">
              <a:buNone/>
            </a:pPr>
            <a:r>
              <a:rPr lang="fr-FR" b="1" dirty="0"/>
              <a:t>Décrivez les étapes de reprise après incident</a:t>
            </a:r>
          </a:p>
          <a:p>
            <a:pPr marL="514350" indent="-514350">
              <a:buAutoNum type="arabicPeriod"/>
            </a:pPr>
            <a:r>
              <a:rPr lang="fr-FR" sz="1900" dirty="0"/>
              <a:t>Analyse et vérification sur l’impact  et l’incidence du système et des données.</a:t>
            </a:r>
          </a:p>
          <a:p>
            <a:pPr marL="514350" indent="-514350">
              <a:buAutoNum type="arabicPeriod"/>
            </a:pPr>
            <a:r>
              <a:rPr lang="fr-FR" sz="1900" dirty="0"/>
              <a:t>Décision des différents acteurs sur les actions à entreprendre.</a:t>
            </a:r>
          </a:p>
          <a:p>
            <a:pPr marL="514350" indent="-514350">
              <a:buAutoNum type="arabicPeriod"/>
            </a:pPr>
            <a:r>
              <a:rPr lang="fr-FR" sz="1900" dirty="0"/>
              <a:t>Phase de test pour la validation des bons fonctionnements du système.</a:t>
            </a:r>
          </a:p>
          <a:p>
            <a:pPr marL="514350" indent="-514350">
              <a:buAutoNum type="arabicPeriod"/>
            </a:pPr>
            <a:r>
              <a:rPr lang="fr-FR" sz="1900" dirty="0"/>
              <a:t>Communication signaler la correction du problème.</a:t>
            </a:r>
          </a:p>
          <a:p>
            <a:pPr marL="514350" indent="-514350">
              <a:buAutoNum type="arabicPeriod"/>
            </a:pPr>
            <a:r>
              <a:rPr lang="fr-FR" sz="1900" dirty="0"/>
              <a:t>Re-disponibilité du service et retour a la normal.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DA69D77-0AED-1B9F-655F-3CB02B952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CCAEB9D-1C87-3C2D-AD84-7D4CB66F1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8</a:t>
            </a:fld>
            <a:endParaRPr lang="fr-FR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2D2CFAD4-DCE8-55A5-FA23-37EFFBE7AB09}"/>
              </a:ext>
            </a:extLst>
          </p:cNvPr>
          <p:cNvSpPr txBox="1">
            <a:spLocks/>
          </p:cNvSpPr>
          <p:nvPr/>
        </p:nvSpPr>
        <p:spPr>
          <a:xfrm>
            <a:off x="838200" y="238770"/>
            <a:ext cx="10515600" cy="795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Plan de Reprise d’Activité </a:t>
            </a:r>
          </a:p>
        </p:txBody>
      </p:sp>
    </p:spTree>
    <p:extLst>
      <p:ext uri="{BB962C8B-B14F-4D97-AF65-F5344CB8AC3E}">
        <p14:creationId xmlns:p14="http://schemas.microsoft.com/office/powerpoint/2010/main" val="3349946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A785F6-CB24-B3F1-DDF4-AA80F84F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Schéma simplifié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9B9E37-71C8-26A3-AEE9-02166F45F2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8234254-AF9E-26C1-1B25-8150666DE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EF4814-C6BF-9ABD-4797-6C1A8863C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54821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4878E-C162-9487-A85B-191EA970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C38C2D-D08E-76BA-90A4-72786E65D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93DAA80-D962-A203-22E7-53E858C1A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7F68BEA-F38E-97E2-48AA-CD2107A16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646901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782</Words>
  <Application>Microsoft Macintosh PowerPoint</Application>
  <PresentationFormat>Grand écran</PresentationFormat>
  <Paragraphs>146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  <vt:lpstr>Atelier 2</vt:lpstr>
      <vt:lpstr>Présentation PowerPoint</vt:lpstr>
      <vt:lpstr>Présentation PowerPoint</vt:lpstr>
      <vt:lpstr>Plan de Continuité d’Activité </vt:lpstr>
      <vt:lpstr>Présentation PowerPoint</vt:lpstr>
      <vt:lpstr>Schéma simplifié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31</cp:revision>
  <dcterms:created xsi:type="dcterms:W3CDTF">2025-10-07T15:26:07Z</dcterms:created>
  <dcterms:modified xsi:type="dcterms:W3CDTF">2025-10-08T11:21:13Z</dcterms:modified>
</cp:coreProperties>
</file>