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1" r:id="rId2"/>
    <p:sldId id="256" r:id="rId3"/>
    <p:sldId id="257" r:id="rId4"/>
    <p:sldId id="258" r:id="rId5"/>
    <p:sldId id="259" r:id="rId6"/>
    <p:sldId id="262" r:id="rId7"/>
    <p:sldId id="263" r:id="rId8"/>
    <p:sldId id="264" r:id="rId9"/>
    <p:sldId id="270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73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09/10/2025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09/10/2025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09/10/2025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09/10/2025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09/10/2025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09/10/2025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09/10/2025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09/10/2025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09/10/2025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09/10/2025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09/10/2025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09/10/2025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09/10/2025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910C-CBAE-71A6-A314-37116185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23B53-C60E-9294-A650-D43470666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0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1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7405137-6541-3C5C-4B66-A42FB2B96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EAF4B3-6F1F-5F40-C1B9-30912C453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DE2E0A7-F7FC-4599-8F76-77AB5BD9A2DA}"/>
              </a:ext>
            </a:extLst>
          </p:cNvPr>
          <p:cNvSpPr txBox="1"/>
          <p:nvPr/>
        </p:nvSpPr>
        <p:spPr>
          <a:xfrm>
            <a:off x="6536724" y="211300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AAB2CFC-DC19-C335-A285-EE56A2FE6630}"/>
              </a:ext>
            </a:extLst>
          </p:cNvPr>
          <p:cNvSpPr txBox="1">
            <a:spLocks/>
          </p:cNvSpPr>
          <p:nvPr/>
        </p:nvSpPr>
        <p:spPr>
          <a:xfrm>
            <a:off x="838200" y="276621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/>
              <a:t>Lilian Mirabel</a:t>
            </a:r>
          </a:p>
          <a:p>
            <a:pPr algn="ctr"/>
            <a:r>
              <a:rPr lang="fr-FR" dirty="0"/>
              <a:t>&amp; </a:t>
            </a:r>
          </a:p>
          <a:p>
            <a:pPr algn="ctr"/>
            <a:r>
              <a:rPr lang="fr-FR" dirty="0" err="1"/>
              <a:t>Ander</a:t>
            </a:r>
            <a:r>
              <a:rPr lang="fr-FR" dirty="0"/>
              <a:t> </a:t>
            </a:r>
            <a:r>
              <a:rPr lang="fr-FR" dirty="0" err="1"/>
              <a:t>Piciura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786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0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E2CB4E63-C33E-C0EB-820C-2A633533B07D}"/>
              </a:ext>
            </a:extLst>
          </p:cNvPr>
          <p:cNvSpPr txBox="1">
            <a:spLocks/>
          </p:cNvSpPr>
          <p:nvPr/>
        </p:nvSpPr>
        <p:spPr>
          <a:xfrm>
            <a:off x="838200" y="276621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/>
              <a:t>Lilian Mirabel</a:t>
            </a:r>
          </a:p>
          <a:p>
            <a:pPr algn="ctr"/>
            <a:r>
              <a:rPr lang="fr-FR" dirty="0"/>
              <a:t>&amp; </a:t>
            </a:r>
          </a:p>
          <a:p>
            <a:pPr algn="ctr"/>
            <a:r>
              <a:rPr lang="fr-FR" dirty="0" err="1"/>
              <a:t>Ander</a:t>
            </a:r>
            <a:r>
              <a:rPr lang="fr-FR" dirty="0"/>
              <a:t> </a:t>
            </a:r>
            <a:r>
              <a:rPr lang="fr-FR" dirty="0" err="1"/>
              <a:t>Piciura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 dirty="0"/>
                        <a:t>Perte de connectivité Internet dans les bureaux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 dirty="0"/>
                        <a:t>Bad buzz ou crise de à un incident communication suite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94AB0C-2E3B-D47E-900E-F62155D20509}"/>
              </a:ext>
            </a:extLst>
          </p:cNvPr>
          <p:cNvSpPr txBox="1"/>
          <p:nvPr/>
        </p:nvSpPr>
        <p:spPr>
          <a:xfrm>
            <a:off x="3283403" y="5400794"/>
            <a:ext cx="5625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correspond au niveau le plus élevé et 5 au plus faible.</a:t>
            </a:r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0BAC4-6283-8E82-C4DC-E470683EB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770"/>
            <a:ext cx="10515600" cy="795632"/>
          </a:xfrm>
        </p:spPr>
        <p:txBody>
          <a:bodyPr/>
          <a:lstStyle/>
          <a:p>
            <a:r>
              <a:rPr lang="fr-FR" dirty="0"/>
              <a:t>Plan de Continuité d’Activité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2A0CA3-7FF7-C5AF-4129-561C37E2E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0013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/>
              <a:t>Définissez les activités vitales à maintenir en cas d’incident</a:t>
            </a:r>
          </a:p>
          <a:p>
            <a:pPr marL="0" indent="0">
              <a:buNone/>
            </a:pPr>
            <a:r>
              <a:rPr lang="fr-FR" sz="1400" dirty="0"/>
              <a:t>- La disponibilité des application Mobile et Web</a:t>
            </a:r>
          </a:p>
          <a:p>
            <a:pPr marL="0" indent="0">
              <a:buNone/>
            </a:pPr>
            <a:r>
              <a:rPr lang="fr-FR" sz="1400" dirty="0"/>
              <a:t>- Les systèmes de paiement</a:t>
            </a:r>
          </a:p>
          <a:p>
            <a:pPr marL="0" indent="0">
              <a:buNone/>
            </a:pPr>
            <a:r>
              <a:rPr lang="fr-FR" sz="1400" dirty="0"/>
              <a:t>- Les bases de données</a:t>
            </a:r>
          </a:p>
          <a:p>
            <a:pPr marL="0" indent="0">
              <a:buNone/>
            </a:pPr>
            <a:r>
              <a:rPr lang="fr-FR" sz="1400" dirty="0"/>
              <a:t>- Outils de communication interne</a:t>
            </a:r>
          </a:p>
          <a:p>
            <a:pPr marL="0" indent="0">
              <a:buNone/>
            </a:pPr>
            <a:r>
              <a:rPr lang="fr-FR" sz="1400" dirty="0"/>
              <a:t>- Supervision du système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r>
              <a:rPr lang="fr-FR" sz="1800" dirty="0"/>
              <a:t>-</a:t>
            </a:r>
            <a:r>
              <a:rPr lang="fr-FR" sz="1400" dirty="0"/>
              <a:t> Des serveurs de secours</a:t>
            </a:r>
          </a:p>
          <a:p>
            <a:pPr marL="0" indent="0">
              <a:buNone/>
            </a:pPr>
            <a:r>
              <a:rPr lang="fr-FR" sz="1400" dirty="0"/>
              <a:t>- Des sauvegardes régulières prêt à prendre le relais</a:t>
            </a:r>
          </a:p>
          <a:p>
            <a:pPr marL="0" indent="0">
              <a:buNone/>
            </a:pPr>
            <a:r>
              <a:rPr lang="fr-FR" sz="1400" dirty="0"/>
              <a:t>- Autoriser le télétravail avec la mise en place d’un VPN</a:t>
            </a:r>
          </a:p>
          <a:p>
            <a:pPr marL="0" indent="0">
              <a:buNone/>
            </a:pPr>
            <a:r>
              <a:rPr lang="fr-FR" sz="1400" dirty="0"/>
              <a:t>- Réseau de secours</a:t>
            </a:r>
          </a:p>
          <a:p>
            <a:pPr marL="0" indent="0">
              <a:buNone/>
            </a:pPr>
            <a:r>
              <a:rPr lang="fr-FR" sz="1400" dirty="0"/>
              <a:t>- Supervision et sécurité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endParaRPr lang="fr-FR" sz="1800" b="1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1C7A77-6469-5B6D-697C-48B1FA68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289B22-5F4D-D01E-18E4-96039CE8E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1645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9888B1-27AA-D8A4-0082-A445F93FA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Décrivez le rôle des acteurs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A4CBC67-7767-BA60-6491-D67CDDF7D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B897E1B-4391-0D82-0419-BA8F83FAA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9</a:t>
            </a:fld>
            <a:endParaRPr lang="fr-FR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0A13D25-30C3-2A88-A061-0ADDE6725E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740239"/>
              </p:ext>
            </p:extLst>
          </p:nvPr>
        </p:nvGraphicFramePr>
        <p:xfrm>
          <a:off x="2135890" y="1841157"/>
          <a:ext cx="7920219" cy="4024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285">
                  <a:extLst>
                    <a:ext uri="{9D8B030D-6E8A-4147-A177-3AD203B41FA5}">
                      <a16:colId xmlns:a16="http://schemas.microsoft.com/office/drawing/2014/main" val="228330033"/>
                    </a:ext>
                  </a:extLst>
                </a:gridCol>
                <a:gridCol w="5236934">
                  <a:extLst>
                    <a:ext uri="{9D8B030D-6E8A-4147-A177-3AD203B41FA5}">
                      <a16:colId xmlns:a16="http://schemas.microsoft.com/office/drawing/2014/main" val="3130860348"/>
                    </a:ext>
                  </a:extLst>
                </a:gridCol>
              </a:tblGrid>
              <a:tr h="487830">
                <a:tc>
                  <a:txBody>
                    <a:bodyPr/>
                    <a:lstStyle/>
                    <a:p>
                      <a:r>
                        <a:rPr lang="fr-FR" dirty="0"/>
                        <a:t>Acteurs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Rôles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77561"/>
                  </a:ext>
                </a:extLst>
              </a:tr>
              <a:tr h="487830">
                <a:tc>
                  <a:txBody>
                    <a:bodyPr/>
                    <a:lstStyle/>
                    <a:p>
                      <a:r>
                        <a:rPr lang="fr-FR" sz="1800" dirty="0"/>
                        <a:t>Direction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Prise de direction stratégique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752065"/>
                  </a:ext>
                </a:extLst>
              </a:tr>
              <a:tr h="853702">
                <a:tc>
                  <a:txBody>
                    <a:bodyPr/>
                    <a:lstStyle/>
                    <a:p>
                      <a:r>
                        <a:rPr lang="fr-FR" sz="1800" dirty="0"/>
                        <a:t>DSI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l’IT est des solutions de continuité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770869"/>
                  </a:ext>
                </a:extLst>
              </a:tr>
              <a:tr h="853702">
                <a:tc>
                  <a:txBody>
                    <a:bodyPr/>
                    <a:lstStyle/>
                    <a:p>
                      <a:r>
                        <a:rPr lang="fr-FR" sz="1800" dirty="0"/>
                        <a:t>DevOps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Maintien de l’</a:t>
                      </a:r>
                      <a:r>
                        <a:rPr lang="fr-FR" dirty="0" err="1"/>
                        <a:t>infrastucture</a:t>
                      </a:r>
                      <a:r>
                        <a:rPr lang="fr-FR" dirty="0"/>
                        <a:t> et des incidents techniques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70985"/>
                  </a:ext>
                </a:extLst>
              </a:tr>
              <a:tr h="487830">
                <a:tc>
                  <a:txBody>
                    <a:bodyPr/>
                    <a:lstStyle/>
                    <a:p>
                      <a:r>
                        <a:rPr lang="fr-FR" sz="1800" dirty="0"/>
                        <a:t>Support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Réponse au demande technique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39947"/>
                  </a:ext>
                </a:extLst>
              </a:tr>
              <a:tr h="853702">
                <a:tc>
                  <a:txBody>
                    <a:bodyPr/>
                    <a:lstStyle/>
                    <a:p>
                      <a:r>
                        <a:rPr lang="fr-FR" sz="1800" dirty="0"/>
                        <a:t>Communication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la communication entre les équipes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322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148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6607C5-8744-2DA8-280B-A1786B69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178"/>
            <a:ext cx="10515600" cy="502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Proposez une stratégie de sauvegarde et de restauration</a:t>
            </a:r>
          </a:p>
          <a:p>
            <a:pPr>
              <a:buFontTx/>
              <a:buChar char="-"/>
            </a:pPr>
            <a:r>
              <a:rPr lang="fr-FR" sz="1800" dirty="0"/>
              <a:t>Sauvegarde quotidienne et automatique des données</a:t>
            </a:r>
          </a:p>
          <a:p>
            <a:pPr>
              <a:buFontTx/>
              <a:buChar char="-"/>
            </a:pPr>
            <a:r>
              <a:rPr lang="fr-FR" sz="1800" dirty="0"/>
              <a:t>Utilisation de divers supports de stockages de données (cloud, disques, etc.)</a:t>
            </a:r>
          </a:p>
          <a:p>
            <a:pPr>
              <a:buFontTx/>
              <a:buChar char="-"/>
            </a:pPr>
            <a:r>
              <a:rPr lang="fr-FR" sz="1800" dirty="0"/>
              <a:t>Utilisation d’un système de </a:t>
            </a:r>
            <a:r>
              <a:rPr lang="fr-FR" sz="1800" dirty="0" err="1"/>
              <a:t>versionning</a:t>
            </a:r>
            <a:r>
              <a:rPr lang="fr-FR" sz="1800" dirty="0"/>
              <a:t> pour le SI (</a:t>
            </a:r>
            <a:r>
              <a:rPr lang="fr-FR" sz="1800" dirty="0" err="1"/>
              <a:t>github</a:t>
            </a:r>
            <a:r>
              <a:rPr lang="fr-FR" sz="1800" dirty="0"/>
              <a:t>, git)</a:t>
            </a:r>
          </a:p>
          <a:p>
            <a:pPr>
              <a:buFontTx/>
              <a:buChar char="-"/>
            </a:pPr>
            <a:endParaRPr lang="fr-FR" sz="1800" dirty="0"/>
          </a:p>
          <a:p>
            <a:pPr marL="0" indent="0">
              <a:buNone/>
            </a:pPr>
            <a:r>
              <a:rPr lang="fr-FR" b="1" dirty="0"/>
              <a:t>Décrivez les étapes de reprise après incident</a:t>
            </a:r>
          </a:p>
          <a:p>
            <a:pPr marL="514350" indent="-514350">
              <a:buAutoNum type="arabicPeriod"/>
            </a:pPr>
            <a:r>
              <a:rPr lang="fr-FR" sz="1900" dirty="0"/>
              <a:t>Analyse et vérification sur l’impact  et l’incidence du système et des données.</a:t>
            </a:r>
          </a:p>
          <a:p>
            <a:pPr marL="514350" indent="-514350">
              <a:buAutoNum type="arabicPeriod"/>
            </a:pPr>
            <a:r>
              <a:rPr lang="fr-FR" sz="1900" dirty="0"/>
              <a:t>Décision des différents acteurs sur les actions à entreprendre.</a:t>
            </a:r>
          </a:p>
          <a:p>
            <a:pPr marL="514350" indent="-514350">
              <a:buAutoNum type="arabicPeriod"/>
            </a:pPr>
            <a:r>
              <a:rPr lang="fr-FR" sz="1900" dirty="0"/>
              <a:t>Phase de test pour la validation des bons fonctionnements du système.</a:t>
            </a:r>
          </a:p>
          <a:p>
            <a:pPr marL="514350" indent="-514350">
              <a:buAutoNum type="arabicPeriod"/>
            </a:pPr>
            <a:r>
              <a:rPr lang="fr-FR" sz="1900" dirty="0"/>
              <a:t>Communication signaler la correction du problème.</a:t>
            </a:r>
          </a:p>
          <a:p>
            <a:pPr marL="514350" indent="-514350">
              <a:buAutoNum type="arabicPeriod"/>
            </a:pPr>
            <a:r>
              <a:rPr lang="fr-FR" sz="1900" dirty="0"/>
              <a:t>Re-disponibilité du service et retour a la normal.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69D77-0AED-1B9F-655F-3CB02B952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CAEB9D-1C87-3C2D-AD84-7D4CB66F1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10</a:t>
            </a:fld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D2CFAD4-DCE8-55A5-FA23-37EFFBE7AB09}"/>
              </a:ext>
            </a:extLst>
          </p:cNvPr>
          <p:cNvSpPr txBox="1">
            <a:spLocks/>
          </p:cNvSpPr>
          <p:nvPr/>
        </p:nvSpPr>
        <p:spPr>
          <a:xfrm>
            <a:off x="838200" y="238770"/>
            <a:ext cx="10515600" cy="795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Plan de Reprise d’Activité </a:t>
            </a:r>
          </a:p>
        </p:txBody>
      </p:sp>
    </p:spTree>
    <p:extLst>
      <p:ext uri="{BB962C8B-B14F-4D97-AF65-F5344CB8AC3E}">
        <p14:creationId xmlns:p14="http://schemas.microsoft.com/office/powerpoint/2010/main" val="3349946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A785F6-CB24-B3F1-DDF4-AA80F84FF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Schéma simplifié</a:t>
            </a:r>
          </a:p>
        </p:txBody>
      </p:sp>
      <p:pic>
        <p:nvPicPr>
          <p:cNvPr id="7" name="Espace réservé du contenu 6" descr="Une image contenant diagramme, Dessin technique, Plan, schématique&#10;&#10;Le contenu généré par l’IA peut être incorrect.">
            <a:extLst>
              <a:ext uri="{FF2B5EF4-FFF2-40B4-BE49-F238E27FC236}">
                <a16:creationId xmlns:a16="http://schemas.microsoft.com/office/drawing/2014/main" id="{BCBE7602-A1D3-A9CE-20EF-8BF65731FE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54773" y="643466"/>
            <a:ext cx="5025786" cy="5568739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234254-AF9E-26C1-1B25-8150666DE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kern="1200">
                <a:solidFill>
                  <a:schemeClr val="tx1">
                    <a:alpha val="80000"/>
                  </a:schemeClr>
                </a:solidFill>
                <a:latin typeface="+mn-lt"/>
                <a:ea typeface="+mn-ea"/>
                <a:cs typeface="+mn-cs"/>
              </a:rPr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EF4814-C6BF-9ABD-4797-6C1A8863C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EF144E42-BC24-D442-AFF0-55EAB46336F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5482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4878E-C162-9487-A85B-191EA970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Fiche PRA/PCA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C38C2D-D08E-76BA-90A4-72786E65D0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b="1" dirty="0"/>
              <a:t>Contexte et Enjeux </a:t>
            </a:r>
            <a:r>
              <a:rPr lang="fr-FR" dirty="0"/>
              <a:t>: La startup </a:t>
            </a:r>
            <a:r>
              <a:rPr lang="fr-FR" dirty="0" err="1"/>
              <a:t>Covoit’Ouest</a:t>
            </a:r>
            <a:r>
              <a:rPr lang="fr-FR" dirty="0"/>
              <a:t> situé a La Rochelle </a:t>
            </a:r>
          </a:p>
          <a:p>
            <a:pPr marL="0" indent="0">
              <a:buNone/>
            </a:pPr>
            <a:r>
              <a:rPr lang="fr-FR" dirty="0"/>
              <a:t>est une entreprise qui dépend principalement de ses Systèmes d’Information.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Les enjeux sont donc importants pour </a:t>
            </a:r>
            <a:r>
              <a:rPr lang="fr-FR" dirty="0" err="1"/>
              <a:t>Covoit’Ouest</a:t>
            </a:r>
            <a:r>
              <a:rPr lang="fr-FR" dirty="0"/>
              <a:t> pour :</a:t>
            </a:r>
          </a:p>
          <a:p>
            <a:pPr>
              <a:buFontTx/>
              <a:buChar char="-"/>
            </a:pPr>
            <a:r>
              <a:rPr lang="fr-FR" dirty="0"/>
              <a:t>De garder une continuité du service permanant.</a:t>
            </a:r>
          </a:p>
          <a:p>
            <a:pPr>
              <a:buFontTx/>
              <a:buChar char="-"/>
            </a:pPr>
            <a:r>
              <a:rPr lang="fr-FR" dirty="0"/>
              <a:t>Limiter les pertes et vol de données.</a:t>
            </a:r>
          </a:p>
          <a:p>
            <a:pPr>
              <a:buFontTx/>
              <a:buChar char="-"/>
            </a:pPr>
            <a:r>
              <a:rPr lang="fr-FR" dirty="0"/>
              <a:t>Préserver la stabilité économique de l’entreprise.</a:t>
            </a:r>
          </a:p>
          <a:p>
            <a:pPr>
              <a:buFontTx/>
              <a:buChar char="-"/>
            </a:pPr>
            <a:r>
              <a:rPr lang="fr-FR" dirty="0"/>
              <a:t>Garder la confiance des clients / partenaires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93DAA80-D962-A203-22E7-53E858C1A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F68BEA-F38E-97E2-48AA-CD2107A16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6469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DE5D65-0CDF-DF6D-1245-ECE8D618A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MATRICE DE CRITICITÉ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C35F8FE9-6FEA-6F7A-25A4-E512D4747B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9903" y="1914525"/>
            <a:ext cx="11245009" cy="4257675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A3DDA9E-C759-9AEE-8015-D67931DF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BBE135-05B1-B7DE-C1D4-964D6801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13</a:t>
            </a:fld>
            <a:endParaRPr lang="fr-FR"/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C85BB4D7-2A7A-D61E-AF60-6085050017C4}"/>
              </a:ext>
            </a:extLst>
          </p:cNvPr>
          <p:cNvCxnSpPr>
            <a:cxnSpLocks/>
          </p:cNvCxnSpPr>
          <p:nvPr/>
        </p:nvCxnSpPr>
        <p:spPr>
          <a:xfrm flipV="1">
            <a:off x="555551" y="2424223"/>
            <a:ext cx="0" cy="3747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5DD027EA-39DD-2F5E-02AF-863E6720543D}"/>
              </a:ext>
            </a:extLst>
          </p:cNvPr>
          <p:cNvCxnSpPr>
            <a:cxnSpLocks/>
          </p:cNvCxnSpPr>
          <p:nvPr/>
        </p:nvCxnSpPr>
        <p:spPr>
          <a:xfrm>
            <a:off x="2041451" y="1690688"/>
            <a:ext cx="98934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CEF6DFE1-F2FA-B406-D954-8C359CE42F8F}"/>
              </a:ext>
            </a:extLst>
          </p:cNvPr>
          <p:cNvSpPr txBox="1"/>
          <p:nvPr/>
        </p:nvSpPr>
        <p:spPr>
          <a:xfrm>
            <a:off x="5869172" y="1282186"/>
            <a:ext cx="187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Gravité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6559B6C-C0F8-97C3-8883-EE9FAE416F52}"/>
              </a:ext>
            </a:extLst>
          </p:cNvPr>
          <p:cNvSpPr txBox="1"/>
          <p:nvPr/>
        </p:nvSpPr>
        <p:spPr>
          <a:xfrm rot="16200000">
            <a:off x="-564780" y="3858696"/>
            <a:ext cx="187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Probabilité</a:t>
            </a:r>
          </a:p>
        </p:txBody>
      </p:sp>
    </p:spTree>
    <p:extLst>
      <p:ext uri="{BB962C8B-B14F-4D97-AF65-F5344CB8AC3E}">
        <p14:creationId xmlns:p14="http://schemas.microsoft.com/office/powerpoint/2010/main" val="394510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1A7F75-C87F-5ADA-F230-19F66191C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31628"/>
            <a:ext cx="10515600" cy="5645335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Les principales mesures techniques et organisationnelles.</a:t>
            </a:r>
          </a:p>
          <a:p>
            <a:pPr marL="0" indent="0">
              <a:buNone/>
            </a:pPr>
            <a:r>
              <a:rPr lang="fr-FR" sz="1900" dirty="0"/>
              <a:t>- Sauvegarde quotidienne automatisée.</a:t>
            </a:r>
          </a:p>
          <a:p>
            <a:pPr marL="0" indent="0">
              <a:buNone/>
            </a:pPr>
            <a:r>
              <a:rPr lang="fr-FR" sz="1900" dirty="0"/>
              <a:t>- Redondance des serveurs critiques.</a:t>
            </a:r>
          </a:p>
          <a:p>
            <a:pPr marL="0" indent="0">
              <a:buNone/>
            </a:pPr>
            <a:r>
              <a:rPr lang="fr-FR" sz="1900" dirty="0"/>
              <a:t>- </a:t>
            </a:r>
            <a:r>
              <a:rPr lang="fr-FR" sz="2000" dirty="0"/>
              <a:t>Formation annuelle des employés</a:t>
            </a:r>
            <a:r>
              <a:rPr lang="fr-FR" sz="1900" dirty="0"/>
              <a:t>.</a:t>
            </a:r>
          </a:p>
          <a:p>
            <a:pPr marL="0" indent="0">
              <a:buNone/>
            </a:pPr>
            <a:r>
              <a:rPr lang="fr-FR" sz="1900" dirty="0"/>
              <a:t>- Chiffrement des données.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Les procédures de test et de mise à jour annuelle du plan.</a:t>
            </a:r>
          </a:p>
          <a:p>
            <a:pPr marL="0" indent="0">
              <a:buNone/>
            </a:pPr>
            <a:r>
              <a:rPr lang="fr-FR" dirty="0"/>
              <a:t>- </a:t>
            </a:r>
            <a:r>
              <a:rPr lang="fr-FR" sz="1900" dirty="0"/>
              <a:t>Audit annuel du plan PRA/PCA</a:t>
            </a:r>
          </a:p>
          <a:p>
            <a:pPr marL="0" indent="0">
              <a:buNone/>
            </a:pPr>
            <a:r>
              <a:rPr lang="fr-FR" sz="1900" dirty="0"/>
              <a:t>- Mise à jour annuelle</a:t>
            </a:r>
          </a:p>
          <a:p>
            <a:pPr>
              <a:buFontTx/>
              <a:buChar char="-"/>
            </a:pPr>
            <a:r>
              <a:rPr lang="fr-FR" sz="1900" dirty="0"/>
              <a:t>Compte rendu de test documenté</a:t>
            </a:r>
          </a:p>
          <a:p>
            <a:pPr marL="0" indent="0">
              <a:buNone/>
            </a:pPr>
            <a:endParaRPr lang="fr-FR" sz="1900" dirty="0"/>
          </a:p>
          <a:p>
            <a:r>
              <a:rPr lang="fr-FR" dirty="0"/>
              <a:t>Une courte stratégie de communication de crise (qui parle, à qui, comment ?)</a:t>
            </a:r>
          </a:p>
          <a:p>
            <a:pPr>
              <a:buFontTx/>
              <a:buChar char="-"/>
            </a:pPr>
            <a:r>
              <a:rPr lang="fr-FR" sz="1900" dirty="0"/>
              <a:t>E-mail d’urgence à l’ensemble du personnel.</a:t>
            </a:r>
          </a:p>
          <a:p>
            <a:pPr>
              <a:buFontTx/>
              <a:buChar char="-"/>
            </a:pPr>
            <a:r>
              <a:rPr lang="fr-FR" sz="1900" dirty="0"/>
              <a:t>Message sur l’intranet interne ou Slack / Teams.</a:t>
            </a:r>
          </a:p>
          <a:p>
            <a:pPr>
              <a:buFontTx/>
              <a:buChar char="-"/>
            </a:pPr>
            <a:r>
              <a:rPr lang="fr-FR" sz="2000" dirty="0"/>
              <a:t>Le DSI informe immédiatement le Directeur Général </a:t>
            </a:r>
            <a:endParaRPr lang="fr-FR" sz="19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15B20-6B5F-C641-94FB-DF98F27FC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2678BF-0775-97DD-F00C-BA4CDFEA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87136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1016</Words>
  <Application>Microsoft Macintosh PowerPoint</Application>
  <PresentationFormat>Grand écran</PresentationFormat>
  <Paragraphs>193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Thème Office</vt:lpstr>
      <vt:lpstr>Atelier 1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  <vt:lpstr>Plan de Continuité d’Activité </vt:lpstr>
      <vt:lpstr>Décrivez le rôle des acteurs</vt:lpstr>
      <vt:lpstr>Présentation PowerPoint</vt:lpstr>
      <vt:lpstr>Schéma simplifié</vt:lpstr>
      <vt:lpstr>Fiche PRA/PCA</vt:lpstr>
      <vt:lpstr>MATRICE DE CRITICITÉ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44</cp:revision>
  <dcterms:created xsi:type="dcterms:W3CDTF">2025-10-07T15:26:07Z</dcterms:created>
  <dcterms:modified xsi:type="dcterms:W3CDTF">2025-10-09T08:51:57Z</dcterms:modified>
</cp:coreProperties>
</file>